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排产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工艺</a:t>
            </a:r>
            <a:r>
              <a:rPr sz="28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标准化建模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15154"/>
                </a:solidFill>
                <a:latin typeface="PingFang SC"/>
                <a:ea typeface="PingFang SC"/>
                <a:cs typeface="PingFang SC"/>
              </a:rPr>
              <a:t>所有工艺操作标准化、建库，固化为可复用的工艺模板。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上游 · 下游 · 配液</a:t>
            </a:r>
            <a:r>
              <a:rPr sz="1350" b="0">
                <a:solidFill>
                  <a:srgbClr val="515154"/>
                </a:solidFill>
                <a:latin typeface="PingFang SC"/>
                <a:ea typeface="PingFang SC"/>
                <a:cs typeface="PingFang SC"/>
              </a:rPr>
              <a:t> 三段工艺</a:t>
            </a: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全部打通。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9A6A1E"/>
                </a:solidFill>
                <a:latin typeface="PingFang SC"/>
                <a:ea typeface="PingFang SC"/>
                <a:cs typeface="PingFang SC"/>
              </a:rPr>
              <a:t>   配液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3214116"/>
            <a:ext cx="100584" cy="100584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645920" y="3264408"/>
            <a:ext cx="292608" cy="0"/>
          </a:xfrm>
          <a:prstGeom prst="line">
            <a:avLst/>
          </a:prstGeom>
          <a:ln w="16510">
            <a:solidFill>
              <a:srgbClr val="8686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306324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0A5FB8"/>
                </a:solidFill>
                <a:latin typeface="PingFang SC"/>
                <a:ea typeface="PingFang SC"/>
                <a:cs typeface="PingFang SC"/>
              </a:rPr>
              <a:t>   上游</a:t>
            </a:r>
          </a:p>
        </p:txBody>
      </p:sp>
      <p:sp>
        <p:nvSpPr>
          <p:cNvPr id="11" name="Oval 10"/>
          <p:cNvSpPr/>
          <p:nvPr/>
        </p:nvSpPr>
        <p:spPr>
          <a:xfrm>
            <a:off x="2157984" y="3214116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017520" y="3264408"/>
            <a:ext cx="292608" cy="0"/>
          </a:xfrm>
          <a:prstGeom prst="line">
            <a:avLst/>
          </a:prstGeom>
          <a:ln w="16510">
            <a:solidFill>
              <a:srgbClr val="8686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306324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207A4E"/>
                </a:solidFill>
                <a:latin typeface="PingFang SC"/>
                <a:ea typeface="PingFang SC"/>
                <a:cs typeface="PingFang SC"/>
              </a:rPr>
              <a:t>   下游</a:t>
            </a:r>
          </a:p>
        </p:txBody>
      </p:sp>
      <p:sp>
        <p:nvSpPr>
          <p:cNvPr id="14" name="Oval 13"/>
          <p:cNvSpPr/>
          <p:nvPr/>
        </p:nvSpPr>
        <p:spPr>
          <a:xfrm>
            <a:off x="3529584" y="3214116"/>
            <a:ext cx="100584" cy="100584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02920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Media Task A</a:t>
            </a:r>
          </a:p>
        </p:txBody>
      </p:sp>
      <p:sp>
        <p:nvSpPr>
          <p:cNvPr id="16" name="Oval 15"/>
          <p:cNvSpPr/>
          <p:nvPr/>
        </p:nvSpPr>
        <p:spPr>
          <a:xfrm>
            <a:off x="4434840" y="3858768"/>
            <a:ext cx="91440" cy="91440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78104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MEDIA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1668"/>
            <a:ext cx="502920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Buffer Task A</a:t>
            </a:r>
          </a:p>
        </p:txBody>
      </p:sp>
      <p:sp>
        <p:nvSpPr>
          <p:cNvPr id="19" name="Oval 18"/>
          <p:cNvSpPr/>
          <p:nvPr/>
        </p:nvSpPr>
        <p:spPr>
          <a:xfrm>
            <a:off x="4434840" y="4357116"/>
            <a:ext cx="91440" cy="91440"/>
          </a:xfrm>
          <a:prstGeom prst="ellipse">
            <a:avLst/>
          </a:prstGeom>
          <a:solidFill>
            <a:srgbClr val="0A9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42793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BUFFER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0016"/>
            <a:ext cx="502920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USP Task A</a:t>
            </a:r>
          </a:p>
        </p:txBody>
      </p:sp>
      <p:sp>
        <p:nvSpPr>
          <p:cNvPr id="22" name="Oval 21"/>
          <p:cNvSpPr/>
          <p:nvPr/>
        </p:nvSpPr>
        <p:spPr>
          <a:xfrm>
            <a:off x="4434840" y="4855464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477774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上游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98364"/>
            <a:ext cx="502920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USP Task B</a:t>
            </a:r>
          </a:p>
        </p:txBody>
      </p:sp>
      <p:sp>
        <p:nvSpPr>
          <p:cNvPr id="25" name="Oval 24"/>
          <p:cNvSpPr/>
          <p:nvPr/>
        </p:nvSpPr>
        <p:spPr>
          <a:xfrm>
            <a:off x="4434840" y="5353812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52760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上游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96712"/>
            <a:ext cx="502920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DSP Task A</a:t>
            </a:r>
          </a:p>
        </p:txBody>
      </p:sp>
      <p:sp>
        <p:nvSpPr>
          <p:cNvPr id="28" name="Oval 27"/>
          <p:cNvSpPr/>
          <p:nvPr/>
        </p:nvSpPr>
        <p:spPr>
          <a:xfrm>
            <a:off x="4434840" y="5852159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577443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下游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195059"/>
            <a:ext cx="502920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DSP Task B</a:t>
            </a:r>
          </a:p>
        </p:txBody>
      </p:sp>
      <p:sp>
        <p:nvSpPr>
          <p:cNvPr id="31" name="Oval 30"/>
          <p:cNvSpPr/>
          <p:nvPr/>
        </p:nvSpPr>
        <p:spPr>
          <a:xfrm>
            <a:off x="4434840" y="6350507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6272783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下游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280160"/>
            <a:ext cx="557784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20_process_templ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486400" cy="3429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55080" y="960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工艺模板 · /process-templates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排产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一键</a:t>
            </a:r>
            <a:r>
              <a:rPr sz="2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生成多批次排产计划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15154"/>
                </a:solidFill>
                <a:latin typeface="PingFang SC"/>
                <a:ea typeface="PingFang SC"/>
                <a:cs typeface="PingFang SC"/>
              </a:rPr>
              <a:t>模板复用，一键生成多批次排产计划。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15154"/>
                </a:solidFill>
                <a:latin typeface="PingFang SC"/>
                <a:ea typeface="PingFang SC"/>
                <a:cs typeface="PingFang SC"/>
              </a:rPr>
              <a:t>排产计划遇异常，支持手动调整。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2286000" cy="566928"/>
          </a:xfrm>
          <a:prstGeom prst="roundRect">
            <a:avLst>
              <a:gd name="adj" fmla="val 28000"/>
            </a:avLst>
          </a:prstGeom>
          <a:solidFill>
            <a:srgbClr val="EEF5FF"/>
          </a:solidFill>
          <a:ln w="1397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WBPxxxx  </a:t>
            </a:r>
            <a:r>
              <a:rPr sz="105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工艺模板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1207008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PPQ1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192524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1243584" y="3630168"/>
            <a:ext cx="539496" cy="347471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65960" y="3977639"/>
            <a:ext cx="1207008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PPQ2</a:t>
            </a:r>
          </a:p>
        </p:txBody>
      </p:sp>
      <p:sp>
        <p:nvSpPr>
          <p:cNvPr id="12" name="Oval 11"/>
          <p:cNvSpPr/>
          <p:nvPr/>
        </p:nvSpPr>
        <p:spPr>
          <a:xfrm>
            <a:off x="2093976" y="4192524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783080" y="3630168"/>
            <a:ext cx="786384" cy="347471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91839" y="3977639"/>
            <a:ext cx="1207008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PPQ3</a:t>
            </a:r>
          </a:p>
        </p:txBody>
      </p:sp>
      <p:sp>
        <p:nvSpPr>
          <p:cNvPr id="15" name="Oval 14"/>
          <p:cNvSpPr/>
          <p:nvPr/>
        </p:nvSpPr>
        <p:spPr>
          <a:xfrm>
            <a:off x="3419856" y="4192524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783080" y="3630168"/>
            <a:ext cx="2112264" cy="347471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17720" y="3977639"/>
            <a:ext cx="1207008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PPQ4</a:t>
            </a:r>
          </a:p>
        </p:txBody>
      </p:sp>
      <p:sp>
        <p:nvSpPr>
          <p:cNvPr id="18" name="Oval 17"/>
          <p:cNvSpPr/>
          <p:nvPr/>
        </p:nvSpPr>
        <p:spPr>
          <a:xfrm>
            <a:off x="4745736" y="4192524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783080" y="3630168"/>
            <a:ext cx="3438144" cy="347471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1280160"/>
            <a:ext cx="557784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21_batch_management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486400" cy="3429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生产计划甘特 · /batch-gantt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排产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支持工艺外</a:t>
            </a:r>
            <a:r>
              <a:rPr sz="28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独立任务</a:t>
            </a:r>
            <a:r>
              <a:rPr sz="2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并行安排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15154"/>
                </a:solidFill>
                <a:latin typeface="PingFang SC"/>
                <a:ea typeface="PingFang SC"/>
                <a:cs typeface="PingFang SC"/>
              </a:rPr>
              <a:t>设备维护、现场巡检等工艺外任务，与批次操作并行排产。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207008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PPQ1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935224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2743200"/>
            <a:ext cx="1207008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PPQ2</a:t>
            </a:r>
          </a:p>
        </p:txBody>
      </p:sp>
      <p:sp>
        <p:nvSpPr>
          <p:cNvPr id="9" name="Oval 8"/>
          <p:cNvSpPr/>
          <p:nvPr/>
        </p:nvSpPr>
        <p:spPr>
          <a:xfrm>
            <a:off x="2093976" y="2935224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39" y="2743200"/>
            <a:ext cx="1207008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PPQ3</a:t>
            </a:r>
          </a:p>
        </p:txBody>
      </p:sp>
      <p:sp>
        <p:nvSpPr>
          <p:cNvPr id="11" name="Oval 10"/>
          <p:cNvSpPr/>
          <p:nvPr/>
        </p:nvSpPr>
        <p:spPr>
          <a:xfrm>
            <a:off x="3419856" y="2935224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1207008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Batch PPQ4</a:t>
            </a:r>
          </a:p>
        </p:txBody>
      </p:sp>
      <p:sp>
        <p:nvSpPr>
          <p:cNvPr id="13" name="Oval 12"/>
          <p:cNvSpPr/>
          <p:nvPr/>
        </p:nvSpPr>
        <p:spPr>
          <a:xfrm>
            <a:off x="4745736" y="2935224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1554480" cy="512064"/>
          </a:xfrm>
          <a:prstGeom prst="roundRect">
            <a:avLst>
              <a:gd name="adj" fmla="val 22000"/>
            </a:avLst>
          </a:prstGeom>
          <a:solidFill>
            <a:srgbClr val="FDF6EA"/>
          </a:solidFill>
          <a:ln w="12700">
            <a:solidFill>
              <a:srgbClr val="E6C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9184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独立 · 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99332"/>
            <a:ext cx="100584" cy="100584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39" y="3611880"/>
            <a:ext cx="1554480" cy="512064"/>
          </a:xfrm>
          <a:prstGeom prst="roundRect">
            <a:avLst>
              <a:gd name="adj" fmla="val 22000"/>
            </a:avLst>
          </a:prstGeom>
          <a:solidFill>
            <a:srgbClr val="FDF6EA"/>
          </a:solidFill>
          <a:ln w="12700">
            <a:solidFill>
              <a:srgbClr val="E6C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9184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独立 · B</a:t>
            </a:r>
          </a:p>
        </p:txBody>
      </p:sp>
      <p:sp>
        <p:nvSpPr>
          <p:cNvPr id="17" name="Oval 16"/>
          <p:cNvSpPr/>
          <p:nvPr/>
        </p:nvSpPr>
        <p:spPr>
          <a:xfrm>
            <a:off x="2514599" y="3799332"/>
            <a:ext cx="100584" cy="100584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0" y="3611880"/>
            <a:ext cx="1554480" cy="512064"/>
          </a:xfrm>
          <a:prstGeom prst="roundRect">
            <a:avLst>
              <a:gd name="adj" fmla="val 22000"/>
            </a:avLst>
          </a:prstGeom>
          <a:solidFill>
            <a:srgbClr val="FDF6EA"/>
          </a:solidFill>
          <a:ln w="12700">
            <a:solidFill>
              <a:srgbClr val="E6C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9184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独立 · C</a:t>
            </a:r>
          </a:p>
        </p:txBody>
      </p:sp>
      <p:sp>
        <p:nvSpPr>
          <p:cNvPr id="19" name="Oval 18"/>
          <p:cNvSpPr/>
          <p:nvPr/>
        </p:nvSpPr>
        <p:spPr>
          <a:xfrm>
            <a:off x="4251960" y="3799332"/>
            <a:ext cx="100584" cy="100584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5577840" cy="41879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37_standing_du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486400" cy="40965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值班任务 · 求解器独立任务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排班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基于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工艺需求</a:t>
            </a:r>
            <a:r>
              <a:rPr sz="2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自动化排班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600200"/>
            <a:ext cx="2606040" cy="603504"/>
          </a:xfrm>
          <a:prstGeom prst="roundRect">
            <a:avLst>
              <a:gd name="adj" fmla="val 24000"/>
            </a:avLst>
          </a:prstGeom>
          <a:solidFill>
            <a:srgbClr val="EEF5FF"/>
          </a:solidFill>
          <a:ln w="1524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WBPxxxx  </a:t>
            </a:r>
            <a:r>
              <a:rPr sz="10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工艺模板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171700" y="2203704"/>
            <a:ext cx="3927348" cy="283464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51560" y="2487168"/>
            <a:ext cx="22402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Batch PPQ1</a:t>
            </a:r>
          </a:p>
        </p:txBody>
      </p:sp>
      <p:sp>
        <p:nvSpPr>
          <p:cNvPr id="8" name="Oval 7"/>
          <p:cNvSpPr/>
          <p:nvPr/>
        </p:nvSpPr>
        <p:spPr>
          <a:xfrm>
            <a:off x="1197863" y="2642616"/>
            <a:ext cx="118872" cy="118872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16151" y="312724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Media Task A</a:t>
            </a:r>
          </a:p>
        </p:txBody>
      </p:sp>
      <p:sp>
        <p:nvSpPr>
          <p:cNvPr id="10" name="Oval 9"/>
          <p:cNvSpPr/>
          <p:nvPr/>
        </p:nvSpPr>
        <p:spPr>
          <a:xfrm>
            <a:off x="1362456" y="3268979"/>
            <a:ext cx="91440" cy="91440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16151" y="3602736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Buffer Task A</a:t>
            </a:r>
          </a:p>
        </p:txBody>
      </p:sp>
      <p:sp>
        <p:nvSpPr>
          <p:cNvPr id="12" name="Oval 11"/>
          <p:cNvSpPr/>
          <p:nvPr/>
        </p:nvSpPr>
        <p:spPr>
          <a:xfrm>
            <a:off x="1362456" y="3744468"/>
            <a:ext cx="91440" cy="91440"/>
          </a:xfrm>
          <a:prstGeom prst="ellipse">
            <a:avLst/>
          </a:prstGeom>
          <a:solidFill>
            <a:srgbClr val="0A9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16151" y="4078224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A</a:t>
            </a:r>
          </a:p>
        </p:txBody>
      </p:sp>
      <p:sp>
        <p:nvSpPr>
          <p:cNvPr id="14" name="Oval 13"/>
          <p:cNvSpPr/>
          <p:nvPr/>
        </p:nvSpPr>
        <p:spPr>
          <a:xfrm>
            <a:off x="1362456" y="4219956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16151" y="4553712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B</a:t>
            </a:r>
          </a:p>
        </p:txBody>
      </p:sp>
      <p:sp>
        <p:nvSpPr>
          <p:cNvPr id="16" name="Oval 15"/>
          <p:cNvSpPr/>
          <p:nvPr/>
        </p:nvSpPr>
        <p:spPr>
          <a:xfrm>
            <a:off x="1362456" y="4695444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16151" y="5029200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A</a:t>
            </a:r>
          </a:p>
        </p:txBody>
      </p:sp>
      <p:sp>
        <p:nvSpPr>
          <p:cNvPr id="18" name="Oval 17"/>
          <p:cNvSpPr/>
          <p:nvPr/>
        </p:nvSpPr>
        <p:spPr>
          <a:xfrm>
            <a:off x="1362456" y="5170932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16151" y="550468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B</a:t>
            </a:r>
          </a:p>
        </p:txBody>
      </p:sp>
      <p:sp>
        <p:nvSpPr>
          <p:cNvPr id="20" name="Oval 19"/>
          <p:cNvSpPr/>
          <p:nvPr/>
        </p:nvSpPr>
        <p:spPr>
          <a:xfrm>
            <a:off x="1362456" y="5646420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4823460" y="2203704"/>
            <a:ext cx="1275588" cy="283464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03320" y="2487168"/>
            <a:ext cx="22402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Batch PPQ2</a:t>
            </a:r>
          </a:p>
        </p:txBody>
      </p:sp>
      <p:sp>
        <p:nvSpPr>
          <p:cNvPr id="23" name="Oval 22"/>
          <p:cNvSpPr/>
          <p:nvPr/>
        </p:nvSpPr>
        <p:spPr>
          <a:xfrm>
            <a:off x="3849624" y="2642616"/>
            <a:ext cx="118872" cy="118872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67911" y="312724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Media Task A</a:t>
            </a:r>
          </a:p>
        </p:txBody>
      </p:sp>
      <p:sp>
        <p:nvSpPr>
          <p:cNvPr id="25" name="Oval 24"/>
          <p:cNvSpPr/>
          <p:nvPr/>
        </p:nvSpPr>
        <p:spPr>
          <a:xfrm>
            <a:off x="4014215" y="3268979"/>
            <a:ext cx="91440" cy="91440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67911" y="3602736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Buffer Task A</a:t>
            </a:r>
          </a:p>
        </p:txBody>
      </p:sp>
      <p:sp>
        <p:nvSpPr>
          <p:cNvPr id="27" name="Oval 26"/>
          <p:cNvSpPr/>
          <p:nvPr/>
        </p:nvSpPr>
        <p:spPr>
          <a:xfrm>
            <a:off x="4014215" y="3744468"/>
            <a:ext cx="91440" cy="91440"/>
          </a:xfrm>
          <a:prstGeom prst="ellipse">
            <a:avLst/>
          </a:prstGeom>
          <a:solidFill>
            <a:srgbClr val="0A9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67911" y="4078224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A</a:t>
            </a:r>
          </a:p>
        </p:txBody>
      </p:sp>
      <p:sp>
        <p:nvSpPr>
          <p:cNvPr id="29" name="Oval 28"/>
          <p:cNvSpPr/>
          <p:nvPr/>
        </p:nvSpPr>
        <p:spPr>
          <a:xfrm>
            <a:off x="4014215" y="4219956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67911" y="4553712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B</a:t>
            </a:r>
          </a:p>
        </p:txBody>
      </p:sp>
      <p:sp>
        <p:nvSpPr>
          <p:cNvPr id="31" name="Oval 30"/>
          <p:cNvSpPr/>
          <p:nvPr/>
        </p:nvSpPr>
        <p:spPr>
          <a:xfrm>
            <a:off x="4014215" y="4695444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67911" y="5029200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A</a:t>
            </a:r>
          </a:p>
        </p:txBody>
      </p:sp>
      <p:sp>
        <p:nvSpPr>
          <p:cNvPr id="33" name="Oval 32"/>
          <p:cNvSpPr/>
          <p:nvPr/>
        </p:nvSpPr>
        <p:spPr>
          <a:xfrm>
            <a:off x="4014215" y="5170932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67911" y="550468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B</a:t>
            </a:r>
          </a:p>
        </p:txBody>
      </p:sp>
      <p:sp>
        <p:nvSpPr>
          <p:cNvPr id="35" name="Oval 34"/>
          <p:cNvSpPr/>
          <p:nvPr/>
        </p:nvSpPr>
        <p:spPr>
          <a:xfrm>
            <a:off x="4014215" y="5646420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099048" y="2203704"/>
            <a:ext cx="1376172" cy="283464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55080" y="2487168"/>
            <a:ext cx="22402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Batch PPQ3</a:t>
            </a:r>
          </a:p>
        </p:txBody>
      </p:sp>
      <p:sp>
        <p:nvSpPr>
          <p:cNvPr id="38" name="Oval 37"/>
          <p:cNvSpPr/>
          <p:nvPr/>
        </p:nvSpPr>
        <p:spPr>
          <a:xfrm>
            <a:off x="6501384" y="2642616"/>
            <a:ext cx="118872" cy="118872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9672" y="312724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Media Task A</a:t>
            </a:r>
          </a:p>
        </p:txBody>
      </p:sp>
      <p:sp>
        <p:nvSpPr>
          <p:cNvPr id="40" name="Oval 39"/>
          <p:cNvSpPr/>
          <p:nvPr/>
        </p:nvSpPr>
        <p:spPr>
          <a:xfrm>
            <a:off x="6665976" y="3268979"/>
            <a:ext cx="91440" cy="91440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19672" y="3602736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Buffer Task A</a:t>
            </a:r>
          </a:p>
        </p:txBody>
      </p:sp>
      <p:sp>
        <p:nvSpPr>
          <p:cNvPr id="42" name="Oval 41"/>
          <p:cNvSpPr/>
          <p:nvPr/>
        </p:nvSpPr>
        <p:spPr>
          <a:xfrm>
            <a:off x="6665976" y="3744468"/>
            <a:ext cx="91440" cy="91440"/>
          </a:xfrm>
          <a:prstGeom prst="ellipse">
            <a:avLst/>
          </a:prstGeom>
          <a:solidFill>
            <a:srgbClr val="0A9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19672" y="4078224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A</a:t>
            </a:r>
          </a:p>
        </p:txBody>
      </p:sp>
      <p:sp>
        <p:nvSpPr>
          <p:cNvPr id="44" name="Oval 43"/>
          <p:cNvSpPr/>
          <p:nvPr/>
        </p:nvSpPr>
        <p:spPr>
          <a:xfrm>
            <a:off x="6665976" y="4219956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9672" y="4553712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B</a:t>
            </a:r>
          </a:p>
        </p:txBody>
      </p:sp>
      <p:sp>
        <p:nvSpPr>
          <p:cNvPr id="46" name="Oval 45"/>
          <p:cNvSpPr/>
          <p:nvPr/>
        </p:nvSpPr>
        <p:spPr>
          <a:xfrm>
            <a:off x="6665976" y="4695444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19672" y="5029200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A</a:t>
            </a:r>
          </a:p>
        </p:txBody>
      </p:sp>
      <p:sp>
        <p:nvSpPr>
          <p:cNvPr id="48" name="Oval 47"/>
          <p:cNvSpPr/>
          <p:nvPr/>
        </p:nvSpPr>
        <p:spPr>
          <a:xfrm>
            <a:off x="6665976" y="5170932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19672" y="550468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B</a:t>
            </a:r>
          </a:p>
        </p:txBody>
      </p:sp>
      <p:sp>
        <p:nvSpPr>
          <p:cNvPr id="50" name="Oval 49"/>
          <p:cNvSpPr/>
          <p:nvPr/>
        </p:nvSpPr>
        <p:spPr>
          <a:xfrm>
            <a:off x="6665976" y="5646420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099048" y="2203704"/>
            <a:ext cx="4027932" cy="283464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06840" y="2487168"/>
            <a:ext cx="22402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9D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Batch PPQ4</a:t>
            </a:r>
          </a:p>
        </p:txBody>
      </p:sp>
      <p:sp>
        <p:nvSpPr>
          <p:cNvPr id="53" name="Oval 52"/>
          <p:cNvSpPr/>
          <p:nvPr/>
        </p:nvSpPr>
        <p:spPr>
          <a:xfrm>
            <a:off x="9153144" y="2642616"/>
            <a:ext cx="118872" cy="118872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171432" y="312724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Media Task A</a:t>
            </a:r>
          </a:p>
        </p:txBody>
      </p:sp>
      <p:sp>
        <p:nvSpPr>
          <p:cNvPr id="55" name="Oval 54"/>
          <p:cNvSpPr/>
          <p:nvPr/>
        </p:nvSpPr>
        <p:spPr>
          <a:xfrm>
            <a:off x="9317736" y="3268979"/>
            <a:ext cx="91440" cy="91440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71432" y="3602736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Buffer Task A</a:t>
            </a:r>
          </a:p>
        </p:txBody>
      </p:sp>
      <p:sp>
        <p:nvSpPr>
          <p:cNvPr id="57" name="Oval 56"/>
          <p:cNvSpPr/>
          <p:nvPr/>
        </p:nvSpPr>
        <p:spPr>
          <a:xfrm>
            <a:off x="9317736" y="3744468"/>
            <a:ext cx="91440" cy="91440"/>
          </a:xfrm>
          <a:prstGeom prst="ellipse">
            <a:avLst/>
          </a:prstGeom>
          <a:solidFill>
            <a:srgbClr val="0A9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71432" y="4078224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A</a:t>
            </a:r>
          </a:p>
        </p:txBody>
      </p:sp>
      <p:sp>
        <p:nvSpPr>
          <p:cNvPr id="59" name="Oval 58"/>
          <p:cNvSpPr/>
          <p:nvPr/>
        </p:nvSpPr>
        <p:spPr>
          <a:xfrm>
            <a:off x="9317736" y="4219956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71432" y="4553712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USP Task B</a:t>
            </a:r>
          </a:p>
        </p:txBody>
      </p:sp>
      <p:sp>
        <p:nvSpPr>
          <p:cNvPr id="61" name="Oval 60"/>
          <p:cNvSpPr/>
          <p:nvPr/>
        </p:nvSpPr>
        <p:spPr>
          <a:xfrm>
            <a:off x="9317736" y="4695444"/>
            <a:ext cx="91440" cy="9144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71432" y="5029200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A</a:t>
            </a:r>
          </a:p>
        </p:txBody>
      </p:sp>
      <p:sp>
        <p:nvSpPr>
          <p:cNvPr id="63" name="Oval 62"/>
          <p:cNvSpPr/>
          <p:nvPr/>
        </p:nvSpPr>
        <p:spPr>
          <a:xfrm>
            <a:off x="9317736" y="5170932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71432" y="5504688"/>
            <a:ext cx="1911096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0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   DSP Task B</a:t>
            </a:r>
          </a:p>
        </p:txBody>
      </p:sp>
      <p:sp>
        <p:nvSpPr>
          <p:cNvPr id="65" name="Oval 64"/>
          <p:cNvSpPr/>
          <p:nvPr/>
        </p:nvSpPr>
        <p:spPr>
          <a:xfrm>
            <a:off x="9317736" y="5646420"/>
            <a:ext cx="91440" cy="91440"/>
          </a:xfrm>
          <a:prstGeom prst="ellipse">
            <a:avLst/>
          </a:prstGeom>
          <a:solidFill>
            <a:srgbClr val="34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排班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每个岗位，匹配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资质与等级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00200"/>
            <a:ext cx="2651760" cy="676656"/>
          </a:xfrm>
          <a:prstGeom prst="roundRect">
            <a:avLst>
              <a:gd name="adj" fmla="val 20000"/>
            </a:avLst>
          </a:prstGeom>
          <a:solidFill>
            <a:srgbClr val="FFF7EA"/>
          </a:solidFill>
          <a:ln w="15240">
            <a:solidFill>
              <a:srgbClr val="E6C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rIns="54864" tIns="18288" bIns="18288"/>
          <a:lstStyle/>
          <a:p>
            <a:pPr algn="l"/>
            <a:r>
              <a:rPr sz="1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Media Task A</a:t>
            </a:r>
          </a:p>
        </p:txBody>
      </p:sp>
      <p:sp>
        <p:nvSpPr>
          <p:cNvPr id="6" name="Oval 5"/>
          <p:cNvSpPr/>
          <p:nvPr/>
        </p:nvSpPr>
        <p:spPr>
          <a:xfrm>
            <a:off x="4956048" y="1828800"/>
            <a:ext cx="164592" cy="164592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2994660" y="2276856"/>
            <a:ext cx="3104388" cy="512064"/>
          </a:xfrm>
          <a:prstGeom prst="line">
            <a:avLst/>
          </a:prstGeom>
          <a:ln w="15240">
            <a:solidFill>
              <a:srgbClr val="0071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28800" y="2788920"/>
            <a:ext cx="2331720" cy="502920"/>
          </a:xfrm>
          <a:prstGeom prst="roundRect">
            <a:avLst>
              <a:gd name="adj" fmla="val 22000"/>
            </a:avLst>
          </a:prstGeom>
          <a:solidFill>
            <a:srgbClr val="EEF5FF"/>
          </a:solidFill>
          <a:ln w="1397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Position A  </a:t>
            </a:r>
            <a:r>
              <a:rPr sz="9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主操作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45643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3547872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00507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1" y="4096511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3F9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55371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1" y="4645151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3F9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2276856"/>
            <a:ext cx="50292" cy="512064"/>
          </a:xfrm>
          <a:prstGeom prst="line">
            <a:avLst/>
          </a:prstGeom>
          <a:ln w="15240">
            <a:solidFill>
              <a:srgbClr val="0071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83480" y="2788920"/>
            <a:ext cx="2331720" cy="502920"/>
          </a:xfrm>
          <a:prstGeom prst="roundRect">
            <a:avLst>
              <a:gd name="adj" fmla="val 22000"/>
            </a:avLst>
          </a:prstGeom>
          <a:solidFill>
            <a:srgbClr val="EEF5FF"/>
          </a:solidFill>
          <a:ln w="1397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Position B  </a:t>
            </a:r>
            <a:r>
              <a:rPr sz="9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辅助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45643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8272" y="3547872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400507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272" y="4096511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2276856"/>
            <a:ext cx="3204972" cy="512064"/>
          </a:xfrm>
          <a:prstGeom prst="line">
            <a:avLst/>
          </a:prstGeom>
          <a:ln w="15240">
            <a:solidFill>
              <a:srgbClr val="0071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38160" y="2788920"/>
            <a:ext cx="2331720" cy="502920"/>
          </a:xfrm>
          <a:prstGeom prst="roundRect">
            <a:avLst>
              <a:gd name="adj" fmla="val 22000"/>
            </a:avLst>
          </a:prstGeom>
          <a:solidFill>
            <a:srgbClr val="EEF5FF"/>
          </a:solidFill>
          <a:ln w="1397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Position C  </a:t>
            </a:r>
            <a:r>
              <a:rPr sz="9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协助 · 可带新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45643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2952" y="3547872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005072"/>
            <a:ext cx="233172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资质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4096511"/>
            <a:ext cx="420624" cy="274320"/>
          </a:xfrm>
          <a:prstGeom prst="roundRect">
            <a:avLst>
              <a:gd name="adj" fmla="val 30000"/>
            </a:avLst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排班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海量排班需求，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自动求解</a:t>
            </a:r>
          </a:p>
        </p:txBody>
      </p:sp>
      <p:sp>
        <p:nvSpPr>
          <p:cNvPr id="5" name="Oval 4"/>
          <p:cNvSpPr/>
          <p:nvPr/>
        </p:nvSpPr>
        <p:spPr>
          <a:xfrm>
            <a:off x="8663923" y="5183300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19551" y="5660533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85167" y="5878536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09655" y="5811014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46862" y="5466113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7036" y="4885432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89916" y="4139010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1494" y="3316876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6052" y="2518192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4444" y="1839291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41505" y="1556478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51331" y="2137159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98451" y="2883581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16873" y="3705715"/>
            <a:ext cx="109728" cy="109728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92315" y="4504399"/>
            <a:ext cx="109728" cy="10972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12066" y="5695253"/>
            <a:ext cx="82296" cy="82296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54942" y="5117438"/>
            <a:ext cx="82296" cy="82296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13587" y="4459772"/>
            <a:ext cx="82296" cy="82296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131" y="3755233"/>
            <a:ext cx="82296" cy="82296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4777" y="3039150"/>
            <a:ext cx="82296" cy="82296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45286" y="2347430"/>
            <a:ext cx="82296" cy="82296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7090" y="1714759"/>
            <a:ext cx="82296" cy="82296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60857" y="1932585"/>
            <a:ext cx="82296" cy="82296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02212" y="2590251"/>
            <a:ext cx="82296" cy="82296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05668" y="3294790"/>
            <a:ext cx="82296" cy="82296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61022" y="4010873"/>
            <a:ext cx="82296" cy="82296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70513" y="4702593"/>
            <a:ext cx="82296" cy="82296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8709" y="5335264"/>
            <a:ext cx="82296" cy="82296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21774" y="5877162"/>
            <a:ext cx="82296" cy="82296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37345" y="4168609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07735" y="4888349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78713" y="4790717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63117" y="3932904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14446" y="2817406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4056" y="2097666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73078" y="2195298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88674" y="3053111"/>
            <a:ext cx="146304" cy="14630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56048" y="3264408"/>
            <a:ext cx="2286000" cy="603504"/>
          </a:xfrm>
          <a:prstGeom prst="roundRect">
            <a:avLst>
              <a:gd name="adj" fmla="val 22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WBPxxxx 工艺模板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工艺 × 批次 × 岗位 × 资质等级 —— </a:t>
            </a:r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排班需求组合爆炸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排班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模块化限制条件，支持</a:t>
            </a: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定制化需求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1554480" cy="457200"/>
          </a:xfrm>
          <a:prstGeom prst="roundRect">
            <a:avLst>
              <a:gd name="adj" fmla="val 26000"/>
            </a:avLst>
          </a:prstGeom>
          <a:solidFill>
            <a:srgbClr val="F1FAF8"/>
          </a:solidFill>
          <a:ln w="12700">
            <a:solidFill>
              <a:srgbClr val="7F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12064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限制条件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975104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600" y="199339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160520" y="2286000"/>
            <a:ext cx="1938528" cy="594360"/>
          </a:xfrm>
          <a:prstGeom prst="line">
            <a:avLst/>
          </a:prstGeom>
          <a:ln w="13970">
            <a:solidFill>
              <a:srgbClr val="06A5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828800"/>
            <a:ext cx="1554480" cy="457200"/>
          </a:xfrm>
          <a:prstGeom prst="roundRect">
            <a:avLst>
              <a:gd name="adj" fmla="val 26000"/>
            </a:avLst>
          </a:prstGeom>
          <a:solidFill>
            <a:srgbClr val="F1FAF8"/>
          </a:solidFill>
          <a:ln w="12700">
            <a:solidFill>
              <a:srgbClr val="7F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12064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限制条件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2936" y="1975104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9240" y="199339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852159" y="2286000"/>
            <a:ext cx="246889" cy="594360"/>
          </a:xfrm>
          <a:prstGeom prst="line">
            <a:avLst/>
          </a:prstGeom>
          <a:ln w="13970">
            <a:solidFill>
              <a:srgbClr val="06A5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1828800"/>
            <a:ext cx="1554480" cy="457200"/>
          </a:xfrm>
          <a:prstGeom prst="roundRect">
            <a:avLst>
              <a:gd name="adj" fmla="val 26000"/>
            </a:avLst>
          </a:prstGeom>
          <a:solidFill>
            <a:srgbClr val="F1FAF8"/>
          </a:solidFill>
          <a:ln w="12700">
            <a:solidFill>
              <a:srgbClr val="7F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12064" rIns="54864" tIns="18288" bIns="18288"/>
          <a:lstStyle/>
          <a:p>
            <a:pPr algn="l"/>
            <a:r>
              <a:rPr sz="1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限制条件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4576" y="1975104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0" y="199339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6099048" y="2286000"/>
            <a:ext cx="1444752" cy="594360"/>
          </a:xfrm>
          <a:prstGeom prst="line">
            <a:avLst/>
          </a:prstGeom>
          <a:ln w="13970">
            <a:solidFill>
              <a:srgbClr val="06A5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1828800"/>
            <a:ext cx="1691640" cy="457200"/>
          </a:xfrm>
          <a:prstGeom prst="roundRect">
            <a:avLst>
              <a:gd name="adj" fmla="val 26000"/>
            </a:avLst>
          </a:prstGeom>
          <a:solidFill>
            <a:srgbClr val="F2F7FF"/>
          </a:solidFill>
          <a:ln w="12700">
            <a:solidFill>
              <a:srgbClr val="0071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+ 自定义限制条件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309360" y="2286000"/>
            <a:ext cx="2560320" cy="594360"/>
          </a:xfrm>
          <a:prstGeom prst="line">
            <a:avLst/>
          </a:prstGeom>
          <a:ln w="13970">
            <a:solidFill>
              <a:srgbClr val="06A5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154680"/>
            <a:ext cx="2103120" cy="914400"/>
          </a:xfrm>
          <a:prstGeom prst="roundRect">
            <a:avLst>
              <a:gd name="adj" fmla="val 16000"/>
            </a:avLst>
          </a:prstGeom>
          <a:solidFill>
            <a:srgbClr val="EEF5FF"/>
          </a:solidFill>
          <a:ln w="1397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工艺生产需求
</a:t>
            </a:r>
            <a:r>
              <a:rPr sz="95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工艺 × 批次 × 岗位 × 资质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3832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3611880"/>
            <a:ext cx="960120" cy="0"/>
          </a:xfrm>
          <a:prstGeom prst="line">
            <a:avLst/>
          </a:prstGeom>
          <a:ln w="20320">
            <a:solidFill>
              <a:srgbClr val="0071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51960" y="2971800"/>
            <a:ext cx="2743200" cy="1280160"/>
          </a:xfrm>
          <a:prstGeom prst="roundRect">
            <a:avLst>
              <a:gd name="adj" fmla="val 14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排班引擎
</a:t>
            </a:r>
            <a:r>
              <a:rPr sz="1100" b="0">
                <a:solidFill>
                  <a:srgbClr val="DDEEFF"/>
                </a:solidFill>
                <a:latin typeface="PingFang SC"/>
                <a:ea typeface="PingFang SC"/>
                <a:cs typeface="PingFang SC"/>
              </a:rPr>
              <a:t>CP-SAT · OR-Tools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832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0" y="3611880"/>
            <a:ext cx="960120" cy="0"/>
          </a:xfrm>
          <a:prstGeom prst="line">
            <a:avLst/>
          </a:prstGeom>
          <a:ln w="20320">
            <a:solidFill>
              <a:srgbClr val="0071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0" y="2971800"/>
            <a:ext cx="2926080" cy="1280160"/>
          </a:xfrm>
          <a:prstGeom prst="roundRect">
            <a:avLst>
              <a:gd name="adj" fmla="val 14000"/>
            </a:avLst>
          </a:prstGeom>
          <a:solidFill>
            <a:srgbClr val="F0FAF3"/>
          </a:solidFill>
          <a:ln w="13970">
            <a:solidFill>
              <a:srgbClr val="BF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排班表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345643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87968" y="345643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17736" y="345643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47504" y="345643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77272" y="345643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6B5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07040" y="3456432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6B5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58200" y="364845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87968" y="364845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17736" y="364845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47504" y="364845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77272" y="364845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07040" y="3648456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58200" y="3840480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6B5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87968" y="3840480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6B5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17736" y="3840480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47504" y="3840480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77272" y="3840480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607040" y="3840480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58200" y="403250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87968" y="403250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17736" y="403250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6B5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47504" y="403250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6B5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177272" y="403250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607040" y="403250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排班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排班耗时，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大幅下降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645920"/>
            <a:ext cx="5760720" cy="38449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solve_runtim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5669280" cy="3753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920240"/>
            <a:ext cx="4206240" cy="141732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3970">
            <a:solidFill>
              <a:srgbClr val="BFD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08483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约 30 人部门 · 繁重工艺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2316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人工数天  →  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5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98094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已逼近最优解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611880"/>
            <a:ext cx="42062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77647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约 10 人部门 · 小规模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1148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人工数天  →  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10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6725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已逼近最优解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uxib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74320"/>
            <a:ext cx="13716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排班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临时不可用，</a:t>
            </a:r>
            <a:r>
              <a:rPr sz="26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一键替换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00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BF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May 15th · 长白班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15154"/>
                </a:solidFill>
                <a:latin typeface="PingFang SC"/>
                <a:ea typeface="PingFang SC"/>
                <a:cs typeface="PingFang SC"/>
              </a:rPr>
              <a:t>Day1 反应器取样 · Batch PPQ1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542032"/>
            <a:ext cx="2743200" cy="0"/>
          </a:xfrm>
          <a:prstGeom prst="line">
            <a:avLst/>
          </a:prstGeom>
          <a:ln w="12700">
            <a:solidFill>
              <a:srgbClr val="D8D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73405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249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Operator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69748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34A06B"/>
                </a:solidFill>
                <a:latin typeface="PingFang SC"/>
                <a:ea typeface="PingFang SC"/>
                <a:cs typeface="PingFang SC"/>
              </a:rPr>
              <a:t>已替换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402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一键替换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276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86868B"/>
                </a:solidFill>
                <a:latin typeface="PingFang SC"/>
                <a:ea typeface="PingFang SC"/>
                <a:cs typeface="PingFang SC"/>
              </a:rPr>
              <a:t>可顶岗候选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F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2167128"/>
            <a:ext cx="384048" cy="384048"/>
          </a:xfrm>
          <a:prstGeom prst="ellipse">
            <a:avLst/>
          </a:prstGeom>
          <a:solidFill>
            <a:srgbClr val="06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2311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0665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Operator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395728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F1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85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资质 A · L3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395728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F1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85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无时间冲突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2395728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F1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85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负荷低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1762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34A06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944368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5080" y="3191256"/>
            <a:ext cx="384048" cy="384048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25526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090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Operator 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419856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F1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85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资质 A · L2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419856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F1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85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无冲突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3419856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F1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850" b="1">
                <a:solidFill>
                  <a:srgbClr val="06A59A"/>
                </a:solidFill>
                <a:latin typeface="PingFang SC"/>
                <a:ea typeface="PingFang SC"/>
                <a:cs typeface="PingFang SC"/>
              </a:rPr>
              <a:t>负荷中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931920"/>
            <a:ext cx="10607040" cy="6005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exc_impact_16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39"/>
            <a:ext cx="10515600" cy="5914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