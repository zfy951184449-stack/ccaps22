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工艺</a:t>
            </a: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标准化建模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所有工艺操作标准化、建库，固化为可复用的工艺模板。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上游 · 下游 · 配液</a:t>
            </a: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 三段工艺</a:t>
            </a:r>
            <a:r>
              <a:rPr sz="13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全部打通。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9A6A1E"/>
                </a:solidFill>
                <a:latin typeface="PingFang SC"/>
                <a:ea typeface="PingFang SC"/>
                <a:cs typeface="PingFang SC"/>
              </a:rPr>
              <a:t>   配液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3214116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45920" y="3264408"/>
            <a:ext cx="292608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116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A5FB8"/>
                </a:solidFill>
                <a:latin typeface="PingFang SC"/>
                <a:ea typeface="PingFang SC"/>
                <a:cs typeface="PingFang SC"/>
              </a:rPr>
              <a:t>   上游</a:t>
            </a:r>
          </a:p>
        </p:txBody>
      </p:sp>
      <p:sp>
        <p:nvSpPr>
          <p:cNvPr id="11" name="Oval 10"/>
          <p:cNvSpPr/>
          <p:nvPr/>
        </p:nvSpPr>
        <p:spPr>
          <a:xfrm>
            <a:off x="2157984" y="3214116"/>
            <a:ext cx="100584" cy="10058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17520" y="3264408"/>
            <a:ext cx="292608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832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207A4E"/>
                </a:solidFill>
                <a:latin typeface="PingFang SC"/>
                <a:ea typeface="PingFang SC"/>
                <a:cs typeface="PingFang SC"/>
              </a:rPr>
              <a:t>   下游</a:t>
            </a:r>
          </a:p>
        </p:txBody>
      </p:sp>
      <p:sp>
        <p:nvSpPr>
          <p:cNvPr id="14" name="Oval 13"/>
          <p:cNvSpPr/>
          <p:nvPr/>
        </p:nvSpPr>
        <p:spPr>
          <a:xfrm>
            <a:off x="3529584" y="3214116"/>
            <a:ext cx="100584" cy="100584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16" name="Oval 15"/>
          <p:cNvSpPr/>
          <p:nvPr/>
        </p:nvSpPr>
        <p:spPr>
          <a:xfrm>
            <a:off x="4434840" y="3858768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781044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MEDIA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01668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19" name="Oval 18"/>
          <p:cNvSpPr/>
          <p:nvPr/>
        </p:nvSpPr>
        <p:spPr>
          <a:xfrm>
            <a:off x="4434840" y="4357116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4279392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BUFFER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00016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22" name="Oval 21"/>
          <p:cNvSpPr/>
          <p:nvPr/>
        </p:nvSpPr>
        <p:spPr>
          <a:xfrm>
            <a:off x="4434840" y="485546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4777740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上游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98364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25" name="Oval 24"/>
          <p:cNvSpPr/>
          <p:nvPr/>
        </p:nvSpPr>
        <p:spPr>
          <a:xfrm>
            <a:off x="4434840" y="5353812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5276088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上游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96712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28" name="Oval 27"/>
          <p:cNvSpPr/>
          <p:nvPr/>
        </p:nvSpPr>
        <p:spPr>
          <a:xfrm>
            <a:off x="4434840" y="5852159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5774436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下游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195059"/>
            <a:ext cx="502920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54864" tIns="18288" bIns="18288"/>
          <a:lstStyle/>
          <a:p>
            <a:pPr algn="l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31" name="Oval 30"/>
          <p:cNvSpPr/>
          <p:nvPr/>
        </p:nvSpPr>
        <p:spPr>
          <a:xfrm>
            <a:off x="4434840" y="6350507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6272783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1280160"/>
            <a:ext cx="55778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20_process_tem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429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355080" y="960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 · /process-templates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一键</a:t>
            </a: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生成多批次排产计划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模板复用，一键生成多批次排产计划。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5728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排产计划遇异常，支持手动调整。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286000" cy="566928"/>
          </a:xfrm>
          <a:prstGeom prst="roundRect">
            <a:avLst>
              <a:gd name="adj" fmla="val 28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WBPxxxx  </a:t>
            </a:r>
            <a:r>
              <a:rPr sz="105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1925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1243584" y="3630168"/>
            <a:ext cx="539496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6596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12" name="Oval 11"/>
          <p:cNvSpPr/>
          <p:nvPr/>
        </p:nvSpPr>
        <p:spPr>
          <a:xfrm>
            <a:off x="2093976" y="41925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83080" y="3630168"/>
            <a:ext cx="78638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91839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41925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783080" y="3630168"/>
            <a:ext cx="211226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61772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18" name="Oval 17"/>
          <p:cNvSpPr/>
          <p:nvPr/>
        </p:nvSpPr>
        <p:spPr>
          <a:xfrm>
            <a:off x="4745736" y="41925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783080" y="3630168"/>
            <a:ext cx="343814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1280160"/>
            <a:ext cx="55778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21_batch_management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429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960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生产计划甘特 · /batch-gantt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支持工艺外</a:t>
            </a: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独立任务</a:t>
            </a: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并行安排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设备维护、现场巡检等工艺外任务，与批次操作并行排产。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29352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6596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9" name="Oval 8"/>
          <p:cNvSpPr/>
          <p:nvPr/>
        </p:nvSpPr>
        <p:spPr>
          <a:xfrm>
            <a:off x="2093976" y="29352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39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11" name="Oval 10"/>
          <p:cNvSpPr/>
          <p:nvPr/>
        </p:nvSpPr>
        <p:spPr>
          <a:xfrm>
            <a:off x="3419856" y="29352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13" name="Oval 12"/>
          <p:cNvSpPr/>
          <p:nvPr/>
        </p:nvSpPr>
        <p:spPr>
          <a:xfrm>
            <a:off x="4745736" y="29352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A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77439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B</a:t>
            </a:r>
          </a:p>
        </p:txBody>
      </p:sp>
      <p:sp>
        <p:nvSpPr>
          <p:cNvPr id="17" name="Oval 16"/>
          <p:cNvSpPr/>
          <p:nvPr/>
        </p:nvSpPr>
        <p:spPr>
          <a:xfrm>
            <a:off x="2514599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0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C</a:t>
            </a:r>
          </a:p>
        </p:txBody>
      </p:sp>
      <p:sp>
        <p:nvSpPr>
          <p:cNvPr id="19" name="Oval 18"/>
          <p:cNvSpPr/>
          <p:nvPr/>
        </p:nvSpPr>
        <p:spPr>
          <a:xfrm>
            <a:off x="4251960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1280160"/>
            <a:ext cx="5577840" cy="41879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37_standing_du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40965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960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值班任务 · 求解器独立任务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基于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工艺需求</a:t>
            </a: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自动化排班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600200"/>
            <a:ext cx="2606040" cy="603504"/>
          </a:xfrm>
          <a:prstGeom prst="roundRect">
            <a:avLst>
              <a:gd name="adj" fmla="val 24000"/>
            </a:avLst>
          </a:prstGeom>
          <a:solidFill>
            <a:srgbClr val="EEF5FF"/>
          </a:solidFill>
          <a:ln w="1524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WBPxxxx  </a:t>
            </a: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2171700" y="2203704"/>
            <a:ext cx="3927348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8" name="Oval 7"/>
          <p:cNvSpPr/>
          <p:nvPr/>
        </p:nvSpPr>
        <p:spPr>
          <a:xfrm>
            <a:off x="1197863" y="2642616"/>
            <a:ext cx="118872" cy="118872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1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10" name="Oval 9"/>
          <p:cNvSpPr/>
          <p:nvPr/>
        </p:nvSpPr>
        <p:spPr>
          <a:xfrm>
            <a:off x="136245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16151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12" name="Oval 11"/>
          <p:cNvSpPr/>
          <p:nvPr/>
        </p:nvSpPr>
        <p:spPr>
          <a:xfrm>
            <a:off x="136245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16151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14" name="Oval 13"/>
          <p:cNvSpPr/>
          <p:nvPr/>
        </p:nvSpPr>
        <p:spPr>
          <a:xfrm>
            <a:off x="136245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16151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16" name="Oval 15"/>
          <p:cNvSpPr/>
          <p:nvPr/>
        </p:nvSpPr>
        <p:spPr>
          <a:xfrm>
            <a:off x="136245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16151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18" name="Oval 17"/>
          <p:cNvSpPr/>
          <p:nvPr/>
        </p:nvSpPr>
        <p:spPr>
          <a:xfrm>
            <a:off x="136245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16151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20" name="Oval 19"/>
          <p:cNvSpPr/>
          <p:nvPr/>
        </p:nvSpPr>
        <p:spPr>
          <a:xfrm>
            <a:off x="136245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4823460" y="2203704"/>
            <a:ext cx="1275588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70332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23" name="Oval 22"/>
          <p:cNvSpPr/>
          <p:nvPr/>
        </p:nvSpPr>
        <p:spPr>
          <a:xfrm>
            <a:off x="3849624" y="2642616"/>
            <a:ext cx="118872" cy="118872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67911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25" name="Oval 24"/>
          <p:cNvSpPr/>
          <p:nvPr/>
        </p:nvSpPr>
        <p:spPr>
          <a:xfrm>
            <a:off x="4014215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67911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27" name="Oval 26"/>
          <p:cNvSpPr/>
          <p:nvPr/>
        </p:nvSpPr>
        <p:spPr>
          <a:xfrm>
            <a:off x="4014215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67911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29" name="Oval 28"/>
          <p:cNvSpPr/>
          <p:nvPr/>
        </p:nvSpPr>
        <p:spPr>
          <a:xfrm>
            <a:off x="4014215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67911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31" name="Oval 30"/>
          <p:cNvSpPr/>
          <p:nvPr/>
        </p:nvSpPr>
        <p:spPr>
          <a:xfrm>
            <a:off x="4014215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67911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33" name="Oval 32"/>
          <p:cNvSpPr/>
          <p:nvPr/>
        </p:nvSpPr>
        <p:spPr>
          <a:xfrm>
            <a:off x="4014215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67911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35" name="Oval 34"/>
          <p:cNvSpPr/>
          <p:nvPr/>
        </p:nvSpPr>
        <p:spPr>
          <a:xfrm>
            <a:off x="4014215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099048" y="2203704"/>
            <a:ext cx="1376172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35508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38" name="Oval 37"/>
          <p:cNvSpPr/>
          <p:nvPr/>
        </p:nvSpPr>
        <p:spPr>
          <a:xfrm>
            <a:off x="6501384" y="2642616"/>
            <a:ext cx="118872" cy="118872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19672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40" name="Oval 39"/>
          <p:cNvSpPr/>
          <p:nvPr/>
        </p:nvSpPr>
        <p:spPr>
          <a:xfrm>
            <a:off x="666597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19672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42" name="Oval 41"/>
          <p:cNvSpPr/>
          <p:nvPr/>
        </p:nvSpPr>
        <p:spPr>
          <a:xfrm>
            <a:off x="666597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19672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44" name="Oval 43"/>
          <p:cNvSpPr/>
          <p:nvPr/>
        </p:nvSpPr>
        <p:spPr>
          <a:xfrm>
            <a:off x="666597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19672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46" name="Oval 45"/>
          <p:cNvSpPr/>
          <p:nvPr/>
        </p:nvSpPr>
        <p:spPr>
          <a:xfrm>
            <a:off x="666597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519672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48" name="Oval 47"/>
          <p:cNvSpPr/>
          <p:nvPr/>
        </p:nvSpPr>
        <p:spPr>
          <a:xfrm>
            <a:off x="666597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19672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50" name="Oval 49"/>
          <p:cNvSpPr/>
          <p:nvPr/>
        </p:nvSpPr>
        <p:spPr>
          <a:xfrm>
            <a:off x="666597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99048" y="2203704"/>
            <a:ext cx="4027932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00684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53" name="Oval 52"/>
          <p:cNvSpPr/>
          <p:nvPr/>
        </p:nvSpPr>
        <p:spPr>
          <a:xfrm>
            <a:off x="9153144" y="2642616"/>
            <a:ext cx="118872" cy="118872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171432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55" name="Oval 54"/>
          <p:cNvSpPr/>
          <p:nvPr/>
        </p:nvSpPr>
        <p:spPr>
          <a:xfrm>
            <a:off x="931773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71432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57" name="Oval 56"/>
          <p:cNvSpPr/>
          <p:nvPr/>
        </p:nvSpPr>
        <p:spPr>
          <a:xfrm>
            <a:off x="931773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71432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59" name="Oval 58"/>
          <p:cNvSpPr/>
          <p:nvPr/>
        </p:nvSpPr>
        <p:spPr>
          <a:xfrm>
            <a:off x="931773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71432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61" name="Oval 60"/>
          <p:cNvSpPr/>
          <p:nvPr/>
        </p:nvSpPr>
        <p:spPr>
          <a:xfrm>
            <a:off x="931773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171432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63" name="Oval 62"/>
          <p:cNvSpPr/>
          <p:nvPr/>
        </p:nvSpPr>
        <p:spPr>
          <a:xfrm>
            <a:off x="931773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71432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65" name="Oval 64"/>
          <p:cNvSpPr/>
          <p:nvPr/>
        </p:nvSpPr>
        <p:spPr>
          <a:xfrm>
            <a:off x="931773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每个岗位，匹配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资质与等级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600200"/>
            <a:ext cx="2651760" cy="676656"/>
          </a:xfrm>
          <a:prstGeom prst="roundRect">
            <a:avLst>
              <a:gd name="adj" fmla="val 20000"/>
            </a:avLst>
          </a:prstGeom>
          <a:solidFill>
            <a:srgbClr val="FFF7EA"/>
          </a:solidFill>
          <a:ln w="1524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8912" rIns="54864" tIns="18288" bIns="18288"/>
          <a:lstStyle/>
          <a:p>
            <a:pPr algn="l"/>
            <a:r>
              <a:rPr sz="1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1828800"/>
            <a:ext cx="164592" cy="164592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2994660" y="2276856"/>
            <a:ext cx="3104388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82880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A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主操作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1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93591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55371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93591" y="464515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2276856"/>
            <a:ext cx="50292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8348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B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辅助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48272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8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8272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9048" y="2276856"/>
            <a:ext cx="3204972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3816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C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协助 · 可带新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02952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02952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3892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资质等级 · 0 – 5 级</a:t>
            </a:r>
          </a:p>
        </p:txBody>
      </p:sp>
      <p:sp>
        <p:nvSpPr>
          <p:cNvPr id="28" name="Oval 27"/>
          <p:cNvSpPr/>
          <p:nvPr/>
        </p:nvSpPr>
        <p:spPr>
          <a:xfrm>
            <a:off x="1171803" y="5468112"/>
            <a:ext cx="475488" cy="475488"/>
          </a:xfrm>
          <a:prstGeom prst="ellipse">
            <a:avLst/>
          </a:prstGeom>
          <a:solidFill>
            <a:srgbClr val="C4C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14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未添加模块</a:t>
            </a:r>
          </a:p>
        </p:txBody>
      </p:sp>
      <p:sp>
        <p:nvSpPr>
          <p:cNvPr id="30" name="Oval 29"/>
          <p:cNvSpPr/>
          <p:nvPr/>
        </p:nvSpPr>
        <p:spPr>
          <a:xfrm>
            <a:off x="3046323" y="5468112"/>
            <a:ext cx="475488" cy="475488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966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仅有资质</a:t>
            </a:r>
          </a:p>
        </p:txBody>
      </p:sp>
      <p:sp>
        <p:nvSpPr>
          <p:cNvPr id="32" name="Oval 31"/>
          <p:cNvSpPr/>
          <p:nvPr/>
        </p:nvSpPr>
        <p:spPr>
          <a:xfrm>
            <a:off x="4920843" y="5468112"/>
            <a:ext cx="475488" cy="47548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418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辅助操作 5 次以上</a:t>
            </a:r>
          </a:p>
        </p:txBody>
      </p:sp>
      <p:sp>
        <p:nvSpPr>
          <p:cNvPr id="34" name="Oval 33"/>
          <p:cNvSpPr/>
          <p:nvPr/>
        </p:nvSpPr>
        <p:spPr>
          <a:xfrm>
            <a:off x="6795363" y="5468112"/>
            <a:ext cx="475488" cy="475488"/>
          </a:xfrm>
          <a:prstGeom prst="ellipse">
            <a:avLst/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1870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独立操作 5 次以上</a:t>
            </a:r>
          </a:p>
        </p:txBody>
      </p:sp>
      <p:sp>
        <p:nvSpPr>
          <p:cNvPr id="36" name="Oval 35"/>
          <p:cNvSpPr/>
          <p:nvPr/>
        </p:nvSpPr>
        <p:spPr>
          <a:xfrm>
            <a:off x="8669883" y="5468112"/>
            <a:ext cx="475488" cy="47548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9322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关键操作常作为 A 操作，可培训他人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10544403" y="5468112"/>
            <a:ext cx="475488" cy="475488"/>
          </a:xfrm>
          <a:prstGeom prst="ellipse">
            <a:avLst/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6774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SME2.0 及以上，且满足 L4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海量排班需求，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自动求解</a:t>
            </a:r>
          </a:p>
        </p:txBody>
      </p:sp>
      <p:sp>
        <p:nvSpPr>
          <p:cNvPr id="5" name="Oval 4"/>
          <p:cNvSpPr/>
          <p:nvPr/>
        </p:nvSpPr>
        <p:spPr>
          <a:xfrm>
            <a:off x="8663923" y="5183300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19551" y="5660533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85167" y="5878536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09655" y="581101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6862" y="5466113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37036" y="4885432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89916" y="4139010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71494" y="3316876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96052" y="2518192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4444" y="1839291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41505" y="1556478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51331" y="2137159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98451" y="2883581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16873" y="3705715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92315" y="4504399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12066" y="569525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4942" y="5117438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13587" y="4459772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0131" y="375523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54777" y="3039150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45286" y="2347430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67090" y="1714759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60857" y="1932585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02212" y="2590251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005668" y="3294790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961022" y="401087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70513" y="4702593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48709" y="5335264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21774" y="5877162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37345" y="4168609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07735" y="4888349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78713" y="4790717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63117" y="3932904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14446" y="2817406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44056" y="2097666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073078" y="2195298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88674" y="3053111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56048" y="3264408"/>
            <a:ext cx="2286000" cy="603504"/>
          </a:xfrm>
          <a:prstGeom prst="roundRect">
            <a:avLst>
              <a:gd name="adj" fmla="val 22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WBPxxxx 工艺模板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 × 批次 × 岗位 × 资质等级 —— </a:t>
            </a:r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排班需求组合爆炸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模块化限制条件，支持</a:t>
            </a:r>
            <a:r>
              <a:rPr sz="24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定制化需求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711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资质与等级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6295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167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48359" y="2286000"/>
            <a:ext cx="4575201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697583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标准工时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98167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17039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10231" y="2286000"/>
            <a:ext cx="3313329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9455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连续上班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0039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8911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572103" y="2286000"/>
            <a:ext cx="2051457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21327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夜班间隔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1911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40783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833975" y="2286000"/>
            <a:ext cx="789585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3199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班次需求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3783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02655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623560" y="2286000"/>
            <a:ext cx="472287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745071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共享组互斥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45655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64527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623560" y="2286000"/>
            <a:ext cx="1734159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06943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领导层在岗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527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26399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5623560" y="2286000"/>
            <a:ext cx="2996031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68815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锁定保护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69399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88271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623560" y="2286000"/>
            <a:ext cx="4257903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530687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2F7FF"/>
          </a:solidFill>
          <a:ln w="12700">
            <a:solidFill>
              <a:srgbClr val="0071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+ 自定义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623560" y="2286000"/>
            <a:ext cx="5519775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14400" y="3154680"/>
            <a:ext cx="2103120" cy="914400"/>
          </a:xfrm>
          <a:prstGeom prst="roundRect">
            <a:avLst>
              <a:gd name="adj" fmla="val 16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工艺生产需求
</a:t>
            </a:r>
            <a:r>
              <a:rPr sz="95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 × 批次 × 岗位 × 资质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33832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08960" y="3611880"/>
            <a:ext cx="960120" cy="0"/>
          </a:xfrm>
          <a:prstGeom prst="line">
            <a:avLst/>
          </a:prstGeom>
          <a:ln w="20320">
            <a:solidFill>
              <a:srgbClr val="0071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251960" y="2971800"/>
            <a:ext cx="2743200" cy="1280160"/>
          </a:xfrm>
          <a:prstGeom prst="roundRect">
            <a:avLst>
              <a:gd name="adj" fmla="val 14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排班引擎
</a:t>
            </a:r>
            <a:r>
              <a:rPr sz="1100" b="0">
                <a:solidFill>
                  <a:srgbClr val="DDEEFF"/>
                </a:solidFill>
                <a:latin typeface="PingFang SC"/>
                <a:ea typeface="PingFang SC"/>
                <a:cs typeface="PingFang SC"/>
              </a:rPr>
              <a:t>CP-SAT · OR-Tools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3832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输出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86600" y="3611880"/>
            <a:ext cx="960120" cy="0"/>
          </a:xfrm>
          <a:prstGeom prst="line">
            <a:avLst/>
          </a:prstGeom>
          <a:ln w="20320">
            <a:solidFill>
              <a:srgbClr val="0071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2971800"/>
            <a:ext cx="2926080" cy="1280160"/>
          </a:xfrm>
          <a:prstGeom prst="roundRect">
            <a:avLst>
              <a:gd name="adj" fmla="val 14000"/>
            </a:avLst>
          </a:prstGeom>
          <a:solidFill>
            <a:srgbClr val="F0FAF3"/>
          </a:solidFill>
          <a:ln w="1397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887968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317736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747504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77272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607040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458200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887968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317736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747504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177272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607040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458200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887968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17736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747504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177272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607040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458200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887968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317736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747504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177272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07040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排班耗时，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大幅下降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5760720" cy="46997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olve_runtime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5669280" cy="46083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920240"/>
            <a:ext cx="4206240" cy="1417320"/>
          </a:xfrm>
          <a:prstGeom prst="roundRect">
            <a:avLst>
              <a:gd name="adj" fmla="val 10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20848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约 30 人部门 · 繁重工艺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42316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人工数天  →  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5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98094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已逼近最优解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611880"/>
            <a:ext cx="4206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77647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约 10 人部门 · 小规模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1148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人工数天  →  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72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已逼近最优解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临时不可用，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一键替换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20040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May 15th · 长白班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Day1 反应器取样 · Batch PPQ1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2542032"/>
            <a:ext cx="2743200" cy="0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3405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249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2697480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0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34A06B"/>
                </a:solidFill>
                <a:latin typeface="PingFang SC"/>
                <a:ea typeface="PingFang SC"/>
                <a:cs typeface="PingFang SC"/>
              </a:rPr>
              <a:t>已替换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4028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一键替换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可顶岗候选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80" y="2167128"/>
            <a:ext cx="384048" cy="38404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23113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0665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资质 A · L3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无时间冲突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26296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负荷低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1762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34A06B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944368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5080" y="3191256"/>
            <a:ext cx="384048" cy="384048"/>
          </a:xfrm>
          <a:prstGeom prst="ellipse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32552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0906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资质 A ·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无冲突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26296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负荷中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931920"/>
            <a:ext cx="10607040" cy="60057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exc_impact_16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77639"/>
            <a:ext cx="10515600" cy="59142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