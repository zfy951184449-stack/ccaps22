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9525">
            <a:solidFill>
              <a:srgbClr val="2B86D9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852160"/>
            <a:ext cx="12191695" cy="0"/>
          </a:xfrm>
          <a:prstGeom prst="line">
            <a:avLst/>
          </a:prstGeom>
          <a:noFill/>
          <a:ln w="9525">
            <a:solidFill>
              <a:srgbClr val="16B5AE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85800"/>
            <a:ext cx="22860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B2E4F">
                <a:alpha val="10000"/>
              </a:srgbClr>
            </a:outerShdw>
          </a:effectLst>
        </p:spPr>
      </p:sp>
      <p:pic>
        <p:nvPicPr>
          <p:cNvPr id="5" name="Image 0" descr="/Users/zhengfengyi/MFG8APS/docs/highlights_deck/assets/wuxibio-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9264" y="841248"/>
            <a:ext cx="1993392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402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生产排产</a:t>
            </a:r>
            <a:pPr algn="l" indent="0" marL="0">
              <a:buNone/>
            </a:pPr>
            <a:r>
              <a:rPr lang="en-US" sz="5400" b="1" dirty="0">
                <a:solidFill>
                  <a:srgbClr val="16B5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buNone/>
            </a:pPr>
            <a:r>
              <a:rPr lang="en-US" sz="5400" b="1" dirty="0">
                <a:solidFill>
                  <a:srgbClr val="16B5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排班系统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41248" y="36118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项目亮点 · 八项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841248" y="4434840"/>
            <a:ext cx="3200400" cy="457200"/>
          </a:xfrm>
          <a:prstGeom prst="roundRect">
            <a:avLst>
              <a:gd name="adj" fmla="val 50000"/>
            </a:avLst>
          </a:prstGeom>
          <a:solidFill>
            <a:srgbClr val="12A8A0">
              <a:alpha val="18000"/>
            </a:srgbClr>
          </a:solidFill>
          <a:ln w="12700">
            <a:solidFill>
              <a:srgbClr val="16B5A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4434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7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生产一线自研 · AI 辅助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1248" y="5257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41248" y="57790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EC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项核心亮点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944368" y="5257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全工艺流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2944368" y="57790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EC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media·buffer·上游·下游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967728" y="5257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 + AI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967728" y="57790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EC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自研敏捷迭代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41248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E92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← →  翻页放映 · 共 8 项亮点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亮点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一线自研的敏捷开发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开发的人就是一线，借助 AI 辅助自己实现，需求不用外传，改起来也快。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424160" y="411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pPr algn="r" indent="0" marL="0">
              <a:buNone/>
            </a:pPr>
            <a:r>
              <a:rPr lang="en-US" sz="1400" dirty="0">
                <a:solidFill>
                  <a:srgbClr val="8A98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08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240280"/>
            <a:ext cx="2624328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76200" dist="25400" dir="8100000">
              <a:srgbClr val="0B2E4F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2331720"/>
            <a:ext cx="253288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E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algn="l" indent="0" marL="0">
              <a:buNone/>
            </a:pPr>
            <a:r>
              <a:rPr lang="en-US" sz="1300" dirty="0">
                <a:solidFill>
                  <a:srgbClr val="12A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次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21792" y="2898648"/>
            <a:ext cx="2514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需求转手（开发即用户）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2240280"/>
            <a:ext cx="2624328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76200" dist="25400" dir="8100000">
              <a:srgbClr val="0B2E4F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2331720"/>
            <a:ext cx="253288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3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+ 一线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92424" y="2898648"/>
            <a:ext cx="2514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独立完成开发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3611880"/>
            <a:ext cx="2624328" cy="1874520"/>
          </a:xfrm>
          <a:prstGeom prst="roundRect">
            <a:avLst>
              <a:gd name="adj" fmla="val 3415"/>
            </a:avLst>
          </a:prstGeom>
          <a:solidFill>
            <a:srgbClr val="FBF7EF"/>
          </a:solidFill>
          <a:ln w="12700">
            <a:solidFill>
              <a:srgbClr val="E8DCC4"/>
            </a:solidFill>
            <a:prstDash val="solid"/>
          </a:ln>
          <a:effectLst>
            <a:outerShdw sx="100000" sy="100000" kx="0" ky="0" algn="bl" rotWithShape="0" blurRad="76200" dist="25400" dir="8100000">
              <a:srgbClr val="0B2E4F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813048"/>
            <a:ext cx="109728" cy="109728"/>
          </a:xfrm>
          <a:prstGeom prst="ellipse">
            <a:avLst/>
          </a:prstGeom>
          <a:solidFill>
            <a:srgbClr val="C8A86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21608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A6D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交给公司开发团队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350008" y="373989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6D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49808" y="4105656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A98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需求准确度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49808" y="4297680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隔着开发团队转一手，常常理解有偏差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49808" y="4773168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A98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迭代速度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49808" y="4965192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要排期、反复确认，等得久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37560" y="3611880"/>
            <a:ext cx="2624328" cy="1874520"/>
          </a:xfrm>
          <a:prstGeom prst="roundRect">
            <a:avLst>
              <a:gd name="adj" fmla="val 3415"/>
            </a:avLst>
          </a:prstGeom>
          <a:solidFill>
            <a:srgbClr val="F2FAFD"/>
          </a:solidFill>
          <a:ln w="19050">
            <a:solidFill>
              <a:srgbClr val="BFE0F1"/>
            </a:solidFill>
            <a:prstDash val="solid"/>
          </a:ln>
          <a:effectLst>
            <a:outerShdw sx="100000" sy="100000" kx="0" ky="0" algn="bl" rotWithShape="0" blurRad="76200" dist="25400" dir="8100000">
              <a:srgbClr val="0B2E4F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02152" y="3813048"/>
            <a:ext cx="109728" cy="109728"/>
          </a:xfrm>
          <a:prstGeom prst="ellipse">
            <a:avLst/>
          </a:prstGeom>
          <a:solidFill>
            <a:srgbClr val="16B5AE"/>
          </a:solidFill>
          <a:ln/>
        </p:spPr>
      </p:sp>
      <p:sp>
        <p:nvSpPr>
          <p:cNvPr id="22" name="Text 20"/>
          <p:cNvSpPr/>
          <p:nvPr/>
        </p:nvSpPr>
        <p:spPr>
          <a:xfrm>
            <a:off x="3685032" y="3721608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6F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一线自研（AI 辅助）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120640" y="373989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2A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20440" y="4105656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A98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需求准确度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520440" y="4297680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42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提需求的人就是写代码的人，不会传歪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520440" y="4773168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A98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迭代速度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520440" y="4965192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42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想到一个改一个，当天就能改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66928" y="5650992"/>
            <a:ext cx="5394960" cy="713232"/>
          </a:xfrm>
          <a:prstGeom prst="rect">
            <a:avLst/>
          </a:prstGeom>
          <a:solidFill>
            <a:srgbClr val="EAF6F5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928" y="5650992"/>
            <a:ext cx="64008" cy="713232"/>
          </a:xfrm>
          <a:prstGeom prst="rect">
            <a:avLst/>
          </a:prstGeom>
          <a:solidFill>
            <a:srgbClr val="12A8A0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5705856"/>
            <a:ext cx="512064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2A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  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42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最懂业务的人自己开发，需求不失真、改得快，做出来正是一线要的东西。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99632" y="2194560"/>
            <a:ext cx="54406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114300" dist="38100" dir="8100000">
              <a:srgbClr val="0B2E4F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99632" y="2194560"/>
            <a:ext cx="5440680" cy="310896"/>
          </a:xfrm>
          <a:prstGeom prst="rect">
            <a:avLst/>
          </a:prstGeom>
          <a:solidFill>
            <a:srgbClr val="EEF3F8"/>
          </a:solidFill>
          <a:ln/>
        </p:spPr>
      </p:sp>
      <p:sp>
        <p:nvSpPr>
          <p:cNvPr id="33" name="Shape 31"/>
          <p:cNvSpPr/>
          <p:nvPr/>
        </p:nvSpPr>
        <p:spPr>
          <a:xfrm>
            <a:off x="6364224" y="2304288"/>
            <a:ext cx="109728" cy="109728"/>
          </a:xfrm>
          <a:prstGeom prst="ellipse">
            <a:avLst/>
          </a:prstGeom>
          <a:solidFill>
            <a:srgbClr val="F86C6B"/>
          </a:solidFill>
          <a:ln/>
        </p:spPr>
      </p:sp>
      <p:sp>
        <p:nvSpPr>
          <p:cNvPr id="34" name="Shape 32"/>
          <p:cNvSpPr/>
          <p:nvPr/>
        </p:nvSpPr>
        <p:spPr>
          <a:xfrm>
            <a:off x="6547104" y="2304288"/>
            <a:ext cx="109728" cy="109728"/>
          </a:xfrm>
          <a:prstGeom prst="ellipse">
            <a:avLst/>
          </a:prstGeom>
          <a:solidFill>
            <a:srgbClr val="F6BE4F"/>
          </a:solidFill>
          <a:ln/>
        </p:spPr>
      </p:sp>
      <p:sp>
        <p:nvSpPr>
          <p:cNvPr id="35" name="Shape 33"/>
          <p:cNvSpPr/>
          <p:nvPr/>
        </p:nvSpPr>
        <p:spPr>
          <a:xfrm>
            <a:off x="6729984" y="2304288"/>
            <a:ext cx="109728" cy="109728"/>
          </a:xfrm>
          <a:prstGeom prst="ellipse">
            <a:avLst/>
          </a:prstGeom>
          <a:solidFill>
            <a:srgbClr val="4FC08D"/>
          </a:solidFill>
          <a:ln/>
        </p:spPr>
      </p:sp>
      <p:sp>
        <p:nvSpPr>
          <p:cNvPr id="36" name="Text 34"/>
          <p:cNvSpPr/>
          <p:nvPr/>
        </p:nvSpPr>
        <p:spPr>
          <a:xfrm>
            <a:off x="7068312" y="219456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运营总览 · /operations-overview</a:t>
            </a:r>
            <a:endParaRPr lang="en-US" sz="950" dirty="0"/>
          </a:p>
        </p:txBody>
      </p:sp>
      <p:pic>
        <p:nvPicPr>
          <p:cNvPr id="37" name="Image 0" descr="/Users/zhengfengyi/MFG8APS/docs/highlights_deck/assets/02_operations_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54496" y="2542032"/>
            <a:ext cx="5330952" cy="2523744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6199632" y="5193792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A98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系统截图：运营总览看板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199632" y="55321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1F6F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217920" y="5769864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前端基于 React + wxb-ui 设计系统</a:t>
            </a:r>
            <a:endParaRPr lang="en-US" sz="9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一线自迭代，AI 辅助开发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亮点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排产模板化，绕开自动排产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商业化工艺常年不变，把人员需求和任务分布写进模板、按批次套用，不自研排产算法。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424160" y="411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pPr algn="r" indent="0" marL="0">
              <a:buNone/>
            </a:pPr>
            <a:r>
              <a:rPr lang="en-US" sz="1400" dirty="0">
                <a:solidFill>
                  <a:srgbClr val="8A98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08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240280"/>
            <a:ext cx="2624328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76200" dist="25400" dir="8100000">
              <a:srgbClr val="0B2E4F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2331720"/>
            <a:ext cx="253288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E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algn="l" indent="0" marL="0">
              <a:buNone/>
            </a:pPr>
            <a:r>
              <a:rPr lang="en-US" sz="1300" dirty="0">
                <a:solidFill>
                  <a:srgbClr val="12A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套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21792" y="2898648"/>
            <a:ext cx="2514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自研排产求解器（模板替代）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2240280"/>
            <a:ext cx="2624328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76200" dist="25400" dir="8100000">
              <a:srgbClr val="0B2E4F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2331720"/>
            <a:ext cx="253288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3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模板复用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92424" y="2898648"/>
            <a:ext cx="2514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配一次，长期套用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3611880"/>
            <a:ext cx="2624328" cy="1874520"/>
          </a:xfrm>
          <a:prstGeom prst="roundRect">
            <a:avLst>
              <a:gd name="adj" fmla="val 3415"/>
            </a:avLst>
          </a:prstGeom>
          <a:solidFill>
            <a:srgbClr val="FBF7EF"/>
          </a:solidFill>
          <a:ln w="12700">
            <a:solidFill>
              <a:srgbClr val="E8DCC4"/>
            </a:solidFill>
            <a:prstDash val="solid"/>
          </a:ln>
          <a:effectLst>
            <a:outerShdw sx="100000" sy="100000" kx="0" ky="0" algn="bl" rotWithShape="0" blurRad="76200" dist="25400" dir="8100000">
              <a:srgbClr val="0B2E4F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813048"/>
            <a:ext cx="109728" cy="109728"/>
          </a:xfrm>
          <a:prstGeom prst="ellipse">
            <a:avLst/>
          </a:prstGeom>
          <a:solidFill>
            <a:srgbClr val="C8A86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21608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A6D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自动排产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350008" y="373989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6D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49808" y="4105656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A98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49808" y="4297680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项目多、工艺老变才需要，比如中试、临床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49808" y="4773168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A98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开发难度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49808" y="4965192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要自研一套排程算法，难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37560" y="3611880"/>
            <a:ext cx="2624328" cy="1874520"/>
          </a:xfrm>
          <a:prstGeom prst="roundRect">
            <a:avLst>
              <a:gd name="adj" fmla="val 3415"/>
            </a:avLst>
          </a:prstGeom>
          <a:solidFill>
            <a:srgbClr val="F2FAFD"/>
          </a:solidFill>
          <a:ln w="19050">
            <a:solidFill>
              <a:srgbClr val="BFE0F1"/>
            </a:solidFill>
            <a:prstDash val="solid"/>
          </a:ln>
          <a:effectLst>
            <a:outerShdw sx="100000" sy="100000" kx="0" ky="0" algn="bl" rotWithShape="0" blurRad="76200" dist="25400" dir="8100000">
              <a:srgbClr val="0B2E4F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02152" y="3813048"/>
            <a:ext cx="109728" cy="109728"/>
          </a:xfrm>
          <a:prstGeom prst="ellipse">
            <a:avLst/>
          </a:prstGeom>
          <a:solidFill>
            <a:srgbClr val="16B5AE"/>
          </a:solidFill>
          <a:ln/>
        </p:spPr>
      </p:sp>
      <p:sp>
        <p:nvSpPr>
          <p:cNvPr id="22" name="Text 20"/>
          <p:cNvSpPr/>
          <p:nvPr/>
        </p:nvSpPr>
        <p:spPr>
          <a:xfrm>
            <a:off x="3685032" y="3721608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6F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模板化排产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120640" y="373989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2A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20440" y="4105656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A98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520440" y="4297680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42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商业化工艺常年不变，模板配一次能用很久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520440" y="4773168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A98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开发难度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520440" y="4965192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42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配好模板套用就行，不用写算法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66928" y="5650992"/>
            <a:ext cx="5394960" cy="713232"/>
          </a:xfrm>
          <a:prstGeom prst="rect">
            <a:avLst/>
          </a:prstGeom>
          <a:solidFill>
            <a:srgbClr val="EAF6F5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928" y="5650992"/>
            <a:ext cx="64008" cy="713232"/>
          </a:xfrm>
          <a:prstGeom prst="rect">
            <a:avLst/>
          </a:prstGeom>
          <a:solidFill>
            <a:srgbClr val="12A8A0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5705856"/>
            <a:ext cx="512064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2A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  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42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商业化场景下排产用模板就够，工程投入集中到排班；开发难度降下来，效果不受影响。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99632" y="2194560"/>
            <a:ext cx="54406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114300" dist="38100" dir="8100000">
              <a:srgbClr val="0B2E4F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99632" y="2194560"/>
            <a:ext cx="5440680" cy="310896"/>
          </a:xfrm>
          <a:prstGeom prst="rect">
            <a:avLst/>
          </a:prstGeom>
          <a:solidFill>
            <a:srgbClr val="EEF3F8"/>
          </a:solidFill>
          <a:ln/>
        </p:spPr>
      </p:sp>
      <p:sp>
        <p:nvSpPr>
          <p:cNvPr id="33" name="Shape 31"/>
          <p:cNvSpPr/>
          <p:nvPr/>
        </p:nvSpPr>
        <p:spPr>
          <a:xfrm>
            <a:off x="6364224" y="2304288"/>
            <a:ext cx="109728" cy="109728"/>
          </a:xfrm>
          <a:prstGeom prst="ellipse">
            <a:avLst/>
          </a:prstGeom>
          <a:solidFill>
            <a:srgbClr val="F86C6B"/>
          </a:solidFill>
          <a:ln/>
        </p:spPr>
      </p:sp>
      <p:sp>
        <p:nvSpPr>
          <p:cNvPr id="34" name="Shape 32"/>
          <p:cNvSpPr/>
          <p:nvPr/>
        </p:nvSpPr>
        <p:spPr>
          <a:xfrm>
            <a:off x="6547104" y="2304288"/>
            <a:ext cx="109728" cy="109728"/>
          </a:xfrm>
          <a:prstGeom prst="ellipse">
            <a:avLst/>
          </a:prstGeom>
          <a:solidFill>
            <a:srgbClr val="F6BE4F"/>
          </a:solidFill>
          <a:ln/>
        </p:spPr>
      </p:sp>
      <p:sp>
        <p:nvSpPr>
          <p:cNvPr id="35" name="Shape 33"/>
          <p:cNvSpPr/>
          <p:nvPr/>
        </p:nvSpPr>
        <p:spPr>
          <a:xfrm>
            <a:off x="6729984" y="2304288"/>
            <a:ext cx="109728" cy="109728"/>
          </a:xfrm>
          <a:prstGeom prst="ellipse">
            <a:avLst/>
          </a:prstGeom>
          <a:solidFill>
            <a:srgbClr val="4FC08D"/>
          </a:solidFill>
          <a:ln/>
        </p:spPr>
      </p:sp>
      <p:sp>
        <p:nvSpPr>
          <p:cNvPr id="36" name="Text 34"/>
          <p:cNvSpPr/>
          <p:nvPr/>
        </p:nvSpPr>
        <p:spPr>
          <a:xfrm>
            <a:off x="7068312" y="219456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工艺模板编辑 · /process-templates</a:t>
            </a:r>
            <a:endParaRPr lang="en-US" sz="950" dirty="0"/>
          </a:p>
        </p:txBody>
      </p:sp>
      <p:pic>
        <p:nvPicPr>
          <p:cNvPr id="37" name="Image 0" descr="/Users/zhengfengyi/MFG8APS/docs/highlights_deck/assets/23_template_edit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54496" y="2542032"/>
            <a:ext cx="5330952" cy="2523744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6199632" y="5193792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A98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系统截图：工艺模板编辑器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199632" y="55321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1F6F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217920" y="5769864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人员需求 / 任务分布写进工艺模板</a:t>
            </a:r>
            <a:endParaRPr lang="en-US" sz="9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按批次套用，工程投入集中到排班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亮点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排班覆盖全工艺流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一套系统把 media、buffer、上游、下游的人和任务排在一起，不用各部门各排一套。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424160" y="411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pPr algn="r" indent="0" marL="0">
              <a:buNone/>
            </a:pPr>
            <a:r>
              <a:rPr lang="en-US" sz="1400" dirty="0">
                <a:solidFill>
                  <a:srgbClr val="8A98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08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240280"/>
            <a:ext cx="2624328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76200" dist="25400" dir="8100000">
              <a:srgbClr val="0B2E4F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2331720"/>
            <a:ext cx="253288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E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l" indent="0" marL="0">
              <a:buNone/>
            </a:pPr>
            <a:r>
              <a:rPr lang="en-US" sz="1300" dirty="0">
                <a:solidFill>
                  <a:srgbClr val="12A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段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21792" y="2898648"/>
            <a:ext cx="2514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覆盖工艺环节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2240280"/>
            <a:ext cx="2624328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76200" dist="25400" dir="8100000">
              <a:srgbClr val="0B2E4F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2331720"/>
            <a:ext cx="253288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3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1 段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92424" y="2898648"/>
            <a:ext cx="2514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已有系统只覆盖上游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3611880"/>
            <a:ext cx="2624328" cy="1874520"/>
          </a:xfrm>
          <a:prstGeom prst="roundRect">
            <a:avLst>
              <a:gd name="adj" fmla="val 3415"/>
            </a:avLst>
          </a:prstGeom>
          <a:solidFill>
            <a:srgbClr val="FBF7EF"/>
          </a:solidFill>
          <a:ln w="12700">
            <a:solidFill>
              <a:srgbClr val="E8DCC4"/>
            </a:solidFill>
            <a:prstDash val="solid"/>
          </a:ln>
          <a:effectLst>
            <a:outerShdw sx="100000" sy="100000" kx="0" ky="0" algn="bl" rotWithShape="0" blurRad="76200" dist="25400" dir="8100000">
              <a:srgbClr val="0B2E4F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813048"/>
            <a:ext cx="109728" cy="109728"/>
          </a:xfrm>
          <a:prstGeom prst="ellipse">
            <a:avLst/>
          </a:prstGeom>
          <a:solidFill>
            <a:srgbClr val="C8A86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21608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A6D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现有做法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350008" y="373989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6D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49808" y="4105656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A98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覆盖范围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49808" y="4297680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已有系统只排上游，其余靠 Excel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49808" y="4773168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A98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跨部门衔接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49808" y="4965192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一个环节拖了，后面常常才发现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37560" y="3611880"/>
            <a:ext cx="2624328" cy="1874520"/>
          </a:xfrm>
          <a:prstGeom prst="roundRect">
            <a:avLst>
              <a:gd name="adj" fmla="val 3415"/>
            </a:avLst>
          </a:prstGeom>
          <a:solidFill>
            <a:srgbClr val="F2FAFD"/>
          </a:solidFill>
          <a:ln w="19050">
            <a:solidFill>
              <a:srgbClr val="BFE0F1"/>
            </a:solidFill>
            <a:prstDash val="solid"/>
          </a:ln>
          <a:effectLst>
            <a:outerShdw sx="100000" sy="100000" kx="0" ky="0" algn="bl" rotWithShape="0" blurRad="76200" dist="25400" dir="8100000">
              <a:srgbClr val="0B2E4F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02152" y="3813048"/>
            <a:ext cx="109728" cy="109728"/>
          </a:xfrm>
          <a:prstGeom prst="ellipse">
            <a:avLst/>
          </a:prstGeom>
          <a:solidFill>
            <a:srgbClr val="16B5AE"/>
          </a:solidFill>
          <a:ln/>
        </p:spPr>
      </p:sp>
      <p:sp>
        <p:nvSpPr>
          <p:cNvPr id="22" name="Text 20"/>
          <p:cNvSpPr/>
          <p:nvPr/>
        </p:nvSpPr>
        <p:spPr>
          <a:xfrm>
            <a:off x="3685032" y="3721608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6F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120640" y="373989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2A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20440" y="4105656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A98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覆盖范围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520440" y="4297680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42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media、buffer、上游、下游都能排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520440" y="4773168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A98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跨部门衔接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520440" y="4965192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42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各环节的先后时间，排班时一起算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66928" y="5650992"/>
            <a:ext cx="5394960" cy="713232"/>
          </a:xfrm>
          <a:prstGeom prst="rect">
            <a:avLst/>
          </a:prstGeom>
          <a:solidFill>
            <a:srgbClr val="EAF6F5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928" y="5650992"/>
            <a:ext cx="64008" cy="713232"/>
          </a:xfrm>
          <a:prstGeom prst="rect">
            <a:avLst/>
          </a:prstGeom>
          <a:solidFill>
            <a:srgbClr val="12A8A0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5705856"/>
            <a:ext cx="512064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2A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  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42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整条工艺流的人和任务排在一套系统里，上下游、配液之间怎么衔接，排班时一起算。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99632" y="2194560"/>
            <a:ext cx="54406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114300" dist="38100" dir="8100000">
              <a:srgbClr val="0B2E4F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99632" y="2194560"/>
            <a:ext cx="5440680" cy="310896"/>
          </a:xfrm>
          <a:prstGeom prst="rect">
            <a:avLst/>
          </a:prstGeom>
          <a:solidFill>
            <a:srgbClr val="EEF3F8"/>
          </a:solidFill>
          <a:ln/>
        </p:spPr>
      </p:sp>
      <p:sp>
        <p:nvSpPr>
          <p:cNvPr id="33" name="Shape 31"/>
          <p:cNvSpPr/>
          <p:nvPr/>
        </p:nvSpPr>
        <p:spPr>
          <a:xfrm>
            <a:off x="6364224" y="2304288"/>
            <a:ext cx="109728" cy="109728"/>
          </a:xfrm>
          <a:prstGeom prst="ellipse">
            <a:avLst/>
          </a:prstGeom>
          <a:solidFill>
            <a:srgbClr val="F86C6B"/>
          </a:solidFill>
          <a:ln/>
        </p:spPr>
      </p:sp>
      <p:sp>
        <p:nvSpPr>
          <p:cNvPr id="34" name="Shape 32"/>
          <p:cNvSpPr/>
          <p:nvPr/>
        </p:nvSpPr>
        <p:spPr>
          <a:xfrm>
            <a:off x="6547104" y="2304288"/>
            <a:ext cx="109728" cy="109728"/>
          </a:xfrm>
          <a:prstGeom prst="ellipse">
            <a:avLst/>
          </a:prstGeom>
          <a:solidFill>
            <a:srgbClr val="F6BE4F"/>
          </a:solidFill>
          <a:ln/>
        </p:spPr>
      </p:sp>
      <p:sp>
        <p:nvSpPr>
          <p:cNvPr id="35" name="Shape 33"/>
          <p:cNvSpPr/>
          <p:nvPr/>
        </p:nvSpPr>
        <p:spPr>
          <a:xfrm>
            <a:off x="6729984" y="2304288"/>
            <a:ext cx="109728" cy="109728"/>
          </a:xfrm>
          <a:prstGeom prst="ellipse">
            <a:avLst/>
          </a:prstGeom>
          <a:solidFill>
            <a:srgbClr val="4FC08D"/>
          </a:solidFill>
          <a:ln/>
        </p:spPr>
      </p:sp>
      <p:sp>
        <p:nvSpPr>
          <p:cNvPr id="36" name="Text 34"/>
          <p:cNvSpPr/>
          <p:nvPr/>
        </p:nvSpPr>
        <p:spPr>
          <a:xfrm>
            <a:off x="7068312" y="219456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生产计划甘特 · /batch-gantt</a:t>
            </a:r>
            <a:endParaRPr lang="en-US" sz="950" dirty="0"/>
          </a:p>
        </p:txBody>
      </p:sp>
      <p:pic>
        <p:nvPicPr>
          <p:cNvPr id="37" name="Image 0" descr="/Users/zhengfengyi/MFG8APS/docs/highlights_deck/assets/24_batch_gant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54496" y="2542032"/>
            <a:ext cx="5330952" cy="2523744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6199632" y="5193792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A98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系统截图：生产计划甘特（覆盖全工艺流）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199632" y="55321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1F6F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217920" y="5769864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DataAssembler 合并 media/buffer/上游/下游</a:t>
            </a:r>
            <a:endParaRPr lang="en-US" sz="9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对照：公司已有系统只覆盖上游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亮点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工艺和独立任务一起排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排班不只排工艺操作，值班、取样、培训这类独立任务也一起排进去。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424160" y="411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pPr algn="r" indent="0" marL="0">
              <a:buNone/>
            </a:pPr>
            <a:r>
              <a:rPr lang="en-US" sz="1400" dirty="0">
                <a:solidFill>
                  <a:srgbClr val="8A98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08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240280"/>
            <a:ext cx="2624328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76200" dist="25400" dir="8100000">
              <a:srgbClr val="0B2E4F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2331720"/>
            <a:ext cx="253288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E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buNone/>
            </a:pPr>
            <a:r>
              <a:rPr lang="en-US" sz="1300" dirty="0">
                <a:solidFill>
                  <a:srgbClr val="12A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张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21792" y="2898648"/>
            <a:ext cx="2514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统一排班 · 工艺＋独立任务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2240280"/>
            <a:ext cx="2624328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76200" dist="25400" dir="8100000">
              <a:srgbClr val="0B2E4F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2331720"/>
            <a:ext cx="253288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3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92424" y="2898648"/>
            <a:ext cx="2514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纳入计划性维护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3611880"/>
            <a:ext cx="2624328" cy="1874520"/>
          </a:xfrm>
          <a:prstGeom prst="roundRect">
            <a:avLst>
              <a:gd name="adj" fmla="val 3415"/>
            </a:avLst>
          </a:prstGeom>
          <a:solidFill>
            <a:srgbClr val="FBF7EF"/>
          </a:solidFill>
          <a:ln w="12700">
            <a:solidFill>
              <a:srgbClr val="E8DCC4"/>
            </a:solidFill>
            <a:prstDash val="solid"/>
          </a:ln>
          <a:effectLst>
            <a:outerShdw sx="100000" sy="100000" kx="0" ky="0" algn="bl" rotWithShape="0" blurRad="76200" dist="25400" dir="8100000">
              <a:srgbClr val="0B2E4F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813048"/>
            <a:ext cx="109728" cy="109728"/>
          </a:xfrm>
          <a:prstGeom prst="ellipse">
            <a:avLst/>
          </a:prstGeom>
          <a:solidFill>
            <a:srgbClr val="C8A86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21608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A6D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现有做法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350008" y="373989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6D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49808" y="4105656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A98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排哪些活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49808" y="4297680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只排工艺操作，独立任务另行处理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49808" y="4773168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A98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人手怎么算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49808" y="4965192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独立任务另排，可能和工艺抢同一个人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37560" y="3611880"/>
            <a:ext cx="2624328" cy="1874520"/>
          </a:xfrm>
          <a:prstGeom prst="roundRect">
            <a:avLst>
              <a:gd name="adj" fmla="val 3415"/>
            </a:avLst>
          </a:prstGeom>
          <a:solidFill>
            <a:srgbClr val="F2FAFD"/>
          </a:solidFill>
          <a:ln w="19050">
            <a:solidFill>
              <a:srgbClr val="BFE0F1"/>
            </a:solidFill>
            <a:prstDash val="solid"/>
          </a:ln>
          <a:effectLst>
            <a:outerShdw sx="100000" sy="100000" kx="0" ky="0" algn="bl" rotWithShape="0" blurRad="76200" dist="25400" dir="8100000">
              <a:srgbClr val="0B2E4F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02152" y="3813048"/>
            <a:ext cx="109728" cy="109728"/>
          </a:xfrm>
          <a:prstGeom prst="ellipse">
            <a:avLst/>
          </a:prstGeom>
          <a:solidFill>
            <a:srgbClr val="16B5AE"/>
          </a:solidFill>
          <a:ln/>
        </p:spPr>
      </p:sp>
      <p:sp>
        <p:nvSpPr>
          <p:cNvPr id="22" name="Text 20"/>
          <p:cNvSpPr/>
          <p:nvPr/>
        </p:nvSpPr>
        <p:spPr>
          <a:xfrm>
            <a:off x="3685032" y="3721608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6F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120640" y="373989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2A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20440" y="4105656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A98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排哪些活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520440" y="4297680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42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工艺操作和独立任务排进同一张班表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520440" y="4773168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A98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人手怎么算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520440" y="4965192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42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一起排，同一个人不会被排两份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66928" y="5650992"/>
            <a:ext cx="5394960" cy="713232"/>
          </a:xfrm>
          <a:prstGeom prst="rect">
            <a:avLst/>
          </a:prstGeom>
          <a:solidFill>
            <a:srgbClr val="EAF6F5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928" y="5650992"/>
            <a:ext cx="64008" cy="713232"/>
          </a:xfrm>
          <a:prstGeom prst="rect">
            <a:avLst/>
          </a:prstGeom>
          <a:solidFill>
            <a:srgbClr val="12A8A0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5705856"/>
            <a:ext cx="512064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2A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  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42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工艺操作和独立任务已经在同一次排班里一起排；下一步把计划性维护也纳进来。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99632" y="2194560"/>
            <a:ext cx="54406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114300" dist="38100" dir="8100000">
              <a:srgbClr val="0B2E4F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99632" y="2194560"/>
            <a:ext cx="5440680" cy="310896"/>
          </a:xfrm>
          <a:prstGeom prst="rect">
            <a:avLst/>
          </a:prstGeom>
          <a:solidFill>
            <a:srgbClr val="EEF3F8"/>
          </a:solidFill>
          <a:ln/>
        </p:spPr>
      </p:sp>
      <p:sp>
        <p:nvSpPr>
          <p:cNvPr id="33" name="Shape 31"/>
          <p:cNvSpPr/>
          <p:nvPr/>
        </p:nvSpPr>
        <p:spPr>
          <a:xfrm>
            <a:off x="6364224" y="2304288"/>
            <a:ext cx="109728" cy="109728"/>
          </a:xfrm>
          <a:prstGeom prst="ellipse">
            <a:avLst/>
          </a:prstGeom>
          <a:solidFill>
            <a:srgbClr val="F86C6B"/>
          </a:solidFill>
          <a:ln/>
        </p:spPr>
      </p:sp>
      <p:sp>
        <p:nvSpPr>
          <p:cNvPr id="34" name="Shape 32"/>
          <p:cNvSpPr/>
          <p:nvPr/>
        </p:nvSpPr>
        <p:spPr>
          <a:xfrm>
            <a:off x="6547104" y="2304288"/>
            <a:ext cx="109728" cy="109728"/>
          </a:xfrm>
          <a:prstGeom prst="ellipse">
            <a:avLst/>
          </a:prstGeom>
          <a:solidFill>
            <a:srgbClr val="F6BE4F"/>
          </a:solidFill>
          <a:ln/>
        </p:spPr>
      </p:sp>
      <p:sp>
        <p:nvSpPr>
          <p:cNvPr id="35" name="Shape 33"/>
          <p:cNvSpPr/>
          <p:nvPr/>
        </p:nvSpPr>
        <p:spPr>
          <a:xfrm>
            <a:off x="6729984" y="2304288"/>
            <a:ext cx="109728" cy="109728"/>
          </a:xfrm>
          <a:prstGeom prst="ellipse">
            <a:avLst/>
          </a:prstGeom>
          <a:solidFill>
            <a:srgbClr val="4FC08D"/>
          </a:solidFill>
          <a:ln/>
        </p:spPr>
      </p:sp>
      <p:sp>
        <p:nvSpPr>
          <p:cNvPr id="36" name="Text 34"/>
          <p:cNvSpPr/>
          <p:nvPr/>
        </p:nvSpPr>
        <p:spPr>
          <a:xfrm>
            <a:off x="7068312" y="219456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排班结果 · /solver-v5</a:t>
            </a:r>
            <a:endParaRPr lang="en-US" sz="950" dirty="0"/>
          </a:p>
        </p:txBody>
      </p:sp>
      <p:pic>
        <p:nvPicPr>
          <p:cNvPr id="37" name="Image 0" descr="/Users/zhengfengyi/MFG8APS/docs/highlights_deck/assets/35_solver_v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54496" y="2542032"/>
            <a:ext cx="5330952" cy="2523744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6199632" y="5193792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A98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系统截图：排班结果（含独立任务）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199632" y="55321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1F6F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217920" y="5769864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standalone_tasks 并入同一次 solve</a:t>
            </a:r>
            <a:endParaRPr lang="en-US" sz="9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source_type=STANDALONE，独立标签区分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亮点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排班按资质等级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不只看有没有资质，还看等级够不够；每个位置单独定等级，不达标的直接排除。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424160" y="411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pPr algn="r" indent="0" marL="0">
              <a:buNone/>
            </a:pPr>
            <a:r>
              <a:rPr lang="en-US" sz="1400" dirty="0">
                <a:solidFill>
                  <a:srgbClr val="8A98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08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240280"/>
            <a:ext cx="2624328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76200" dist="25400" dir="8100000">
              <a:srgbClr val="0B2E4F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2331720"/>
            <a:ext cx="253288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E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algn="l" indent="0" marL="0">
              <a:buNone/>
            </a:pPr>
            <a:r>
              <a:rPr lang="en-US" sz="1300" dirty="0">
                <a:solidFill>
                  <a:srgbClr val="12A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人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21792" y="2898648"/>
            <a:ext cx="2514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不达标员工上岗（硬卡）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2240280"/>
            <a:ext cx="2624328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76200" dist="25400" dir="8100000">
              <a:srgbClr val="0B2E4F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2331720"/>
            <a:ext cx="253288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3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1–5 级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92424" y="2898648"/>
            <a:ext cx="2514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按资质等级匹配，而非有无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3611880"/>
            <a:ext cx="2624328" cy="1874520"/>
          </a:xfrm>
          <a:prstGeom prst="roundRect">
            <a:avLst>
              <a:gd name="adj" fmla="val 3415"/>
            </a:avLst>
          </a:prstGeom>
          <a:solidFill>
            <a:srgbClr val="FBF7EF"/>
          </a:solidFill>
          <a:ln w="12700">
            <a:solidFill>
              <a:srgbClr val="E8DCC4"/>
            </a:solidFill>
            <a:prstDash val="solid"/>
          </a:ln>
          <a:effectLst>
            <a:outerShdw sx="100000" sy="100000" kx="0" ky="0" algn="bl" rotWithShape="0" blurRad="76200" dist="25400" dir="8100000">
              <a:srgbClr val="0B2E4F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813048"/>
            <a:ext cx="109728" cy="109728"/>
          </a:xfrm>
          <a:prstGeom prst="ellipse">
            <a:avLst/>
          </a:prstGeom>
          <a:solidFill>
            <a:srgbClr val="C8A86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21608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A6D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现有做法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350008" y="373989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6D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49808" y="4105656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A98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怎么判定资质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49808" y="4297680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只看有没有这个资质，不分等级高低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49808" y="4773168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A98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关键位置与新人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49808" y="4965192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不分等级，不熟练的人可能上关键操作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37560" y="3611880"/>
            <a:ext cx="2624328" cy="1874520"/>
          </a:xfrm>
          <a:prstGeom prst="roundRect">
            <a:avLst>
              <a:gd name="adj" fmla="val 3415"/>
            </a:avLst>
          </a:prstGeom>
          <a:solidFill>
            <a:srgbClr val="F2FAFD"/>
          </a:solidFill>
          <a:ln w="19050">
            <a:solidFill>
              <a:srgbClr val="BFE0F1"/>
            </a:solidFill>
            <a:prstDash val="solid"/>
          </a:ln>
          <a:effectLst>
            <a:outerShdw sx="100000" sy="100000" kx="0" ky="0" algn="bl" rotWithShape="0" blurRad="76200" dist="25400" dir="8100000">
              <a:srgbClr val="0B2E4F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02152" y="3813048"/>
            <a:ext cx="109728" cy="109728"/>
          </a:xfrm>
          <a:prstGeom prst="ellipse">
            <a:avLst/>
          </a:prstGeom>
          <a:solidFill>
            <a:srgbClr val="16B5AE"/>
          </a:solidFill>
          <a:ln/>
        </p:spPr>
      </p:sp>
      <p:sp>
        <p:nvSpPr>
          <p:cNvPr id="22" name="Text 20"/>
          <p:cNvSpPr/>
          <p:nvPr/>
        </p:nvSpPr>
        <p:spPr>
          <a:xfrm>
            <a:off x="3685032" y="3721608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6F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120640" y="373989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2A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20440" y="4105656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A98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怎么判定资质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520440" y="4297680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42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看等级够不够，每个位置单独定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520440" y="4773168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A98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关键位置与新人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520440" y="4965192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42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关键位置要够等级，非关键位置可带新人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66928" y="5650992"/>
            <a:ext cx="5394960" cy="713232"/>
          </a:xfrm>
          <a:prstGeom prst="rect">
            <a:avLst/>
          </a:prstGeom>
          <a:solidFill>
            <a:srgbClr val="EAF6F5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928" y="5650992"/>
            <a:ext cx="64008" cy="713232"/>
          </a:xfrm>
          <a:prstGeom prst="rect">
            <a:avLst/>
          </a:prstGeom>
          <a:solidFill>
            <a:srgbClr val="12A8A0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5705856"/>
            <a:ext cx="512064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2A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  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42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关键操作交给够等级的人，不熟练的排不进去；非关键位置可以安排新人参与、跟着上手。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99632" y="2194560"/>
            <a:ext cx="54406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114300" dist="38100" dir="8100000">
              <a:srgbClr val="0B2E4F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99632" y="2194560"/>
            <a:ext cx="5440680" cy="310896"/>
          </a:xfrm>
          <a:prstGeom prst="rect">
            <a:avLst/>
          </a:prstGeom>
          <a:solidFill>
            <a:srgbClr val="EEF3F8"/>
          </a:solidFill>
          <a:ln/>
        </p:spPr>
      </p:sp>
      <p:sp>
        <p:nvSpPr>
          <p:cNvPr id="33" name="Shape 31"/>
          <p:cNvSpPr/>
          <p:nvPr/>
        </p:nvSpPr>
        <p:spPr>
          <a:xfrm>
            <a:off x="6364224" y="2304288"/>
            <a:ext cx="109728" cy="109728"/>
          </a:xfrm>
          <a:prstGeom prst="ellipse">
            <a:avLst/>
          </a:prstGeom>
          <a:solidFill>
            <a:srgbClr val="F86C6B"/>
          </a:solidFill>
          <a:ln/>
        </p:spPr>
      </p:sp>
      <p:sp>
        <p:nvSpPr>
          <p:cNvPr id="34" name="Shape 32"/>
          <p:cNvSpPr/>
          <p:nvPr/>
        </p:nvSpPr>
        <p:spPr>
          <a:xfrm>
            <a:off x="6547104" y="2304288"/>
            <a:ext cx="109728" cy="109728"/>
          </a:xfrm>
          <a:prstGeom prst="ellipse">
            <a:avLst/>
          </a:prstGeom>
          <a:solidFill>
            <a:srgbClr val="F6BE4F"/>
          </a:solidFill>
          <a:ln/>
        </p:spPr>
      </p:sp>
      <p:sp>
        <p:nvSpPr>
          <p:cNvPr id="35" name="Shape 33"/>
          <p:cNvSpPr/>
          <p:nvPr/>
        </p:nvSpPr>
        <p:spPr>
          <a:xfrm>
            <a:off x="6729984" y="2304288"/>
            <a:ext cx="109728" cy="109728"/>
          </a:xfrm>
          <a:prstGeom prst="ellipse">
            <a:avLst/>
          </a:prstGeom>
          <a:solidFill>
            <a:srgbClr val="4FC08D"/>
          </a:solidFill>
          <a:ln/>
        </p:spPr>
      </p:sp>
      <p:sp>
        <p:nvSpPr>
          <p:cNvPr id="36" name="Text 34"/>
          <p:cNvSpPr/>
          <p:nvPr/>
        </p:nvSpPr>
        <p:spPr>
          <a:xfrm>
            <a:off x="7068312" y="219456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资质矩阵 · /qualification-matrix</a:t>
            </a:r>
            <a:endParaRPr lang="en-US" sz="950" dirty="0"/>
          </a:p>
        </p:txBody>
      </p:sp>
      <p:pic>
        <p:nvPicPr>
          <p:cNvPr id="37" name="Image 0" descr="/Users/zhengfengyi/MFG8APS/docs/highlights_deck/assets/12_qualification_matri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54496" y="2542032"/>
            <a:ext cx="5330952" cy="2523744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6199632" y="5193792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A98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系统截图：资质矩阵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199632" y="55321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1F6F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217920" y="5769864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按位置定 required_level（1–5 级）</a:t>
            </a:r>
            <a:endParaRPr lang="en-US" sz="9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不达标进求解器前即被过滤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亮点 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请假一键换人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有人请假，系统先列出受影响的班，再按条件挑出合适的人，一键换上。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424160" y="411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pPr algn="r" indent="0" marL="0">
              <a:buNone/>
            </a:pPr>
            <a:r>
              <a:rPr lang="en-US" sz="1400" dirty="0">
                <a:solidFill>
                  <a:srgbClr val="8A98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08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240280"/>
            <a:ext cx="2624328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76200" dist="25400" dir="8100000">
              <a:srgbClr val="0B2E4F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2331720"/>
            <a:ext cx="253288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3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21792" y="2898648"/>
            <a:ext cx="2514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请假替换 · 先看影响范围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2240280"/>
            <a:ext cx="2624328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76200" dist="25400" dir="8100000">
              <a:srgbClr val="0B2E4F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2331720"/>
            <a:ext cx="253288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3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只动受影响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92424" y="2898648"/>
            <a:ext cx="2514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其余班次保持不变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3611880"/>
            <a:ext cx="2624328" cy="1874520"/>
          </a:xfrm>
          <a:prstGeom prst="roundRect">
            <a:avLst>
              <a:gd name="adj" fmla="val 3415"/>
            </a:avLst>
          </a:prstGeom>
          <a:solidFill>
            <a:srgbClr val="FBF7EF"/>
          </a:solidFill>
          <a:ln w="12700">
            <a:solidFill>
              <a:srgbClr val="E8DCC4"/>
            </a:solidFill>
            <a:prstDash val="solid"/>
          </a:ln>
          <a:effectLst>
            <a:outerShdw sx="100000" sy="100000" kx="0" ky="0" algn="bl" rotWithShape="0" blurRad="76200" dist="25400" dir="8100000">
              <a:srgbClr val="0B2E4F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813048"/>
            <a:ext cx="109728" cy="109728"/>
          </a:xfrm>
          <a:prstGeom prst="ellipse">
            <a:avLst/>
          </a:prstGeom>
          <a:solidFill>
            <a:srgbClr val="C8A86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21608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A6D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现有做法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350008" y="373989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6D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49808" y="4105656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A98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影响范围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49808" y="4297680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手工改，连带受影响的班容易漏看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49808" y="4773168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A98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换谁顶班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49808" y="4965192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凭经验找，可能换上资质不够的人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37560" y="3611880"/>
            <a:ext cx="2624328" cy="1874520"/>
          </a:xfrm>
          <a:prstGeom prst="roundRect">
            <a:avLst>
              <a:gd name="adj" fmla="val 3415"/>
            </a:avLst>
          </a:prstGeom>
          <a:solidFill>
            <a:srgbClr val="F2FAFD"/>
          </a:solidFill>
          <a:ln w="19050">
            <a:solidFill>
              <a:srgbClr val="BFE0F1"/>
            </a:solidFill>
            <a:prstDash val="solid"/>
          </a:ln>
          <a:effectLst>
            <a:outerShdw sx="100000" sy="100000" kx="0" ky="0" algn="bl" rotWithShape="0" blurRad="76200" dist="25400" dir="8100000">
              <a:srgbClr val="0B2E4F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02152" y="3813048"/>
            <a:ext cx="109728" cy="109728"/>
          </a:xfrm>
          <a:prstGeom prst="ellipse">
            <a:avLst/>
          </a:prstGeom>
          <a:solidFill>
            <a:srgbClr val="16B5AE"/>
          </a:solidFill>
          <a:ln/>
        </p:spPr>
      </p:sp>
      <p:sp>
        <p:nvSpPr>
          <p:cNvPr id="22" name="Text 20"/>
          <p:cNvSpPr/>
          <p:nvPr/>
        </p:nvSpPr>
        <p:spPr>
          <a:xfrm>
            <a:off x="3685032" y="3721608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6F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120640" y="373989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2A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20440" y="4105656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A98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影响范围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520440" y="4297680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42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先列出受影响的班，改之前就看到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520440" y="4773168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A98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换谁顶班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520440" y="4965192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42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系统按条件筛，确保合适，一键换上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66928" y="5650992"/>
            <a:ext cx="5394960" cy="713232"/>
          </a:xfrm>
          <a:prstGeom prst="rect">
            <a:avLst/>
          </a:prstGeom>
          <a:solidFill>
            <a:srgbClr val="EAF6F5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928" y="5650992"/>
            <a:ext cx="64008" cy="713232"/>
          </a:xfrm>
          <a:prstGeom prst="rect">
            <a:avLst/>
          </a:prstGeom>
          <a:solidFill>
            <a:srgbClr val="12A8A0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5705856"/>
            <a:ext cx="512064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2A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  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42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手工改容易引起连锁问题；系统先让你看清受影响的范围，再按条件用合适的人一键替换。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99632" y="2194560"/>
            <a:ext cx="54406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114300" dist="38100" dir="8100000">
              <a:srgbClr val="0B2E4F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99632" y="2194560"/>
            <a:ext cx="5440680" cy="310896"/>
          </a:xfrm>
          <a:prstGeom prst="rect">
            <a:avLst/>
          </a:prstGeom>
          <a:solidFill>
            <a:srgbClr val="EEF3F8"/>
          </a:solidFill>
          <a:ln/>
        </p:spPr>
      </p:sp>
      <p:sp>
        <p:nvSpPr>
          <p:cNvPr id="33" name="Shape 31"/>
          <p:cNvSpPr/>
          <p:nvPr/>
        </p:nvSpPr>
        <p:spPr>
          <a:xfrm>
            <a:off x="6364224" y="2304288"/>
            <a:ext cx="109728" cy="109728"/>
          </a:xfrm>
          <a:prstGeom prst="ellipse">
            <a:avLst/>
          </a:prstGeom>
          <a:solidFill>
            <a:srgbClr val="F86C6B"/>
          </a:solidFill>
          <a:ln/>
        </p:spPr>
      </p:sp>
      <p:sp>
        <p:nvSpPr>
          <p:cNvPr id="34" name="Shape 32"/>
          <p:cNvSpPr/>
          <p:nvPr/>
        </p:nvSpPr>
        <p:spPr>
          <a:xfrm>
            <a:off x="6547104" y="2304288"/>
            <a:ext cx="109728" cy="109728"/>
          </a:xfrm>
          <a:prstGeom prst="ellipse">
            <a:avLst/>
          </a:prstGeom>
          <a:solidFill>
            <a:srgbClr val="F6BE4F"/>
          </a:solidFill>
          <a:ln/>
        </p:spPr>
      </p:sp>
      <p:sp>
        <p:nvSpPr>
          <p:cNvPr id="35" name="Shape 33"/>
          <p:cNvSpPr/>
          <p:nvPr/>
        </p:nvSpPr>
        <p:spPr>
          <a:xfrm>
            <a:off x="6729984" y="2304288"/>
            <a:ext cx="109728" cy="109728"/>
          </a:xfrm>
          <a:prstGeom prst="ellipse">
            <a:avLst/>
          </a:prstGeom>
          <a:solidFill>
            <a:srgbClr val="4FC08D"/>
          </a:solidFill>
          <a:ln/>
        </p:spPr>
      </p:sp>
      <p:sp>
        <p:nvSpPr>
          <p:cNvPr id="36" name="Text 34"/>
          <p:cNvSpPr/>
          <p:nvPr/>
        </p:nvSpPr>
        <p:spPr>
          <a:xfrm>
            <a:off x="7068312" y="219456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异常排班快速修复 · /roster-exceptions</a:t>
            </a:r>
            <a:endParaRPr lang="en-US" sz="950" dirty="0"/>
          </a:p>
        </p:txBody>
      </p:sp>
      <p:pic>
        <p:nvPicPr>
          <p:cNvPr id="37" name="Image 0" descr="/Users/zhengfengyi/MFG8APS/docs/highlights_deck/assets/33_roster_excep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54496" y="2542032"/>
            <a:ext cx="5330952" cy="2523744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6199632" y="5193792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A98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系统截图：异常排班快速修复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199632" y="55321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1F6F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217920" y="5769864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预览先算受影响的班和空缺（影响范围）</a:t>
            </a:r>
            <a:endParaRPr lang="en-US" sz="9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候选按 同组·资质·可用·不冲突 筛选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亮点 07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求解速度快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一个月的排班，复杂的 5 分钟内得到接近最优的解，简单的 1 秒出结果。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424160" y="411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pPr algn="r" indent="0" marL="0">
              <a:buNone/>
            </a:pPr>
            <a:r>
              <a:rPr lang="en-US" sz="1400" dirty="0">
                <a:solidFill>
                  <a:srgbClr val="8A98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08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240280"/>
            <a:ext cx="1700784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76200" dist="25400" dir="8100000">
              <a:srgbClr val="0B2E4F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2331720"/>
            <a:ext cx="160934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pPr algn="l" indent="0" marL="0">
              <a:buNone/>
            </a:pPr>
            <a:r>
              <a:rPr lang="en-US" sz="1300" dirty="0">
                <a:solidFill>
                  <a:srgbClr val="12A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分钟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1792" y="2898648"/>
            <a:ext cx="1591056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一个月排班，接近最优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14016" y="2240280"/>
            <a:ext cx="1700784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76200" dist="25400" dir="8100000">
              <a:srgbClr val="0B2E4F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9736" y="2331720"/>
            <a:ext cx="160934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buNone/>
            </a:pPr>
            <a:r>
              <a:rPr lang="en-US" sz="1300" dirty="0">
                <a:solidFill>
                  <a:srgbClr val="12A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秒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68880" y="2898648"/>
            <a:ext cx="1591056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简单情况出结果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61104" y="2240280"/>
            <a:ext cx="1700784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76200" dist="25400" dir="8100000">
              <a:srgbClr val="0B2E4F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06824" y="2331720"/>
            <a:ext cx="160934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3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≤1%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315968" y="2898648"/>
            <a:ext cx="1591056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离理论最优的差距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928" y="3611880"/>
            <a:ext cx="2624328" cy="1874520"/>
          </a:xfrm>
          <a:prstGeom prst="roundRect">
            <a:avLst>
              <a:gd name="adj" fmla="val 3415"/>
            </a:avLst>
          </a:prstGeom>
          <a:solidFill>
            <a:srgbClr val="FBF7EF"/>
          </a:solidFill>
          <a:ln w="12700">
            <a:solidFill>
              <a:srgbClr val="E8DCC4"/>
            </a:solidFill>
            <a:prstDash val="solid"/>
          </a:ln>
          <a:effectLst>
            <a:outerShdw sx="100000" sy="100000" kx="0" ky="0" algn="bl" rotWithShape="0" blurRad="76200" dist="25400" dir="8100000">
              <a:srgbClr val="0B2E4F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813048"/>
            <a:ext cx="109728" cy="109728"/>
          </a:xfrm>
          <a:prstGeom prst="ellipse">
            <a:avLst/>
          </a:prstGeom>
          <a:solidFill>
            <a:srgbClr val="C8A86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721608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A6D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手工排班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350008" y="373989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6D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49808" y="4105656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A98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出解速度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49808" y="4297680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一个月的班要排好几天，耗时费力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49808" y="4773168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A98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离最优多近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49808" y="4965192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凭经验，不知道离最优差多少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37560" y="3611880"/>
            <a:ext cx="2624328" cy="1874520"/>
          </a:xfrm>
          <a:prstGeom prst="roundRect">
            <a:avLst>
              <a:gd name="adj" fmla="val 3415"/>
            </a:avLst>
          </a:prstGeom>
          <a:solidFill>
            <a:srgbClr val="F2FAFD"/>
          </a:solidFill>
          <a:ln w="19050">
            <a:solidFill>
              <a:srgbClr val="BFE0F1"/>
            </a:solidFill>
            <a:prstDash val="solid"/>
          </a:ln>
          <a:effectLst>
            <a:outerShdw sx="100000" sy="100000" kx="0" ky="0" algn="bl" rotWithShape="0" blurRad="76200" dist="25400" dir="8100000">
              <a:srgbClr val="0B2E4F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502152" y="3813048"/>
            <a:ext cx="109728" cy="109728"/>
          </a:xfrm>
          <a:prstGeom prst="ellipse">
            <a:avLst/>
          </a:prstGeom>
          <a:solidFill>
            <a:srgbClr val="16B5AE"/>
          </a:solidFill>
          <a:ln/>
        </p:spPr>
      </p:sp>
      <p:sp>
        <p:nvSpPr>
          <p:cNvPr id="25" name="Text 23"/>
          <p:cNvSpPr/>
          <p:nvPr/>
        </p:nvSpPr>
        <p:spPr>
          <a:xfrm>
            <a:off x="3685032" y="3721608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6F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120640" y="373989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2A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520440" y="4105656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A98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出解速度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520440" y="4297680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42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复杂排班 5 分钟，简单 1 秒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520440" y="4773168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A98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离最优多近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520440" y="4965192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42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算出 1% 差距，知道有多接近最优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66928" y="5650992"/>
            <a:ext cx="5394960" cy="713232"/>
          </a:xfrm>
          <a:prstGeom prst="rect">
            <a:avLst/>
          </a:prstGeom>
          <a:solidFill>
            <a:srgbClr val="EAF6F5"/>
          </a:solidFill>
          <a:ln/>
        </p:spPr>
      </p:sp>
      <p:sp>
        <p:nvSpPr>
          <p:cNvPr id="32" name="Shape 30"/>
          <p:cNvSpPr/>
          <p:nvPr/>
        </p:nvSpPr>
        <p:spPr>
          <a:xfrm>
            <a:off x="566928" y="5650992"/>
            <a:ext cx="64008" cy="713232"/>
          </a:xfrm>
          <a:prstGeom prst="rect">
            <a:avLst/>
          </a:prstGeom>
          <a:solidFill>
            <a:srgbClr val="12A8A0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" y="5705856"/>
            <a:ext cx="512064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2A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  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42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系统不仅快，还能算出离最优差多少；复杂排班 5 分钟压到 1% 以内，简单的 1 秒出解。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99632" y="2194560"/>
            <a:ext cx="54406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114300" dist="38100" dir="8100000">
              <a:srgbClr val="0B2E4F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99632" y="2194560"/>
            <a:ext cx="5440680" cy="310896"/>
          </a:xfrm>
          <a:prstGeom prst="rect">
            <a:avLst/>
          </a:prstGeom>
          <a:solidFill>
            <a:srgbClr val="EEF3F8"/>
          </a:solidFill>
          <a:ln/>
        </p:spPr>
      </p:sp>
      <p:sp>
        <p:nvSpPr>
          <p:cNvPr id="36" name="Shape 34"/>
          <p:cNvSpPr/>
          <p:nvPr/>
        </p:nvSpPr>
        <p:spPr>
          <a:xfrm>
            <a:off x="6364224" y="2304288"/>
            <a:ext cx="109728" cy="109728"/>
          </a:xfrm>
          <a:prstGeom prst="ellipse">
            <a:avLst/>
          </a:prstGeom>
          <a:solidFill>
            <a:srgbClr val="F86C6B"/>
          </a:solidFill>
          <a:ln/>
        </p:spPr>
      </p:sp>
      <p:sp>
        <p:nvSpPr>
          <p:cNvPr id="37" name="Shape 35"/>
          <p:cNvSpPr/>
          <p:nvPr/>
        </p:nvSpPr>
        <p:spPr>
          <a:xfrm>
            <a:off x="6547104" y="2304288"/>
            <a:ext cx="109728" cy="109728"/>
          </a:xfrm>
          <a:prstGeom prst="ellipse">
            <a:avLst/>
          </a:prstGeom>
          <a:solidFill>
            <a:srgbClr val="F6BE4F"/>
          </a:solidFill>
          <a:ln/>
        </p:spPr>
      </p:sp>
      <p:sp>
        <p:nvSpPr>
          <p:cNvPr id="38" name="Shape 36"/>
          <p:cNvSpPr/>
          <p:nvPr/>
        </p:nvSpPr>
        <p:spPr>
          <a:xfrm>
            <a:off x="6729984" y="2304288"/>
            <a:ext cx="109728" cy="109728"/>
          </a:xfrm>
          <a:prstGeom prst="ellipse">
            <a:avLst/>
          </a:prstGeom>
          <a:solidFill>
            <a:srgbClr val="4FC08D"/>
          </a:solidFill>
          <a:ln/>
        </p:spPr>
      </p:sp>
      <p:sp>
        <p:nvSpPr>
          <p:cNvPr id="39" name="Text 37"/>
          <p:cNvSpPr/>
          <p:nvPr/>
        </p:nvSpPr>
        <p:spPr>
          <a:xfrm>
            <a:off x="7068312" y="219456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求解器 · /solver-v4</a:t>
            </a:r>
            <a:endParaRPr lang="en-US" sz="950" dirty="0"/>
          </a:p>
        </p:txBody>
      </p:sp>
      <p:pic>
        <p:nvPicPr>
          <p:cNvPr id="40" name="Image 0" descr="/Users/zhengfengyi/MFG8APS/docs/highlights_deck/assets/34_solver_v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54496" y="2542032"/>
            <a:ext cx="5330952" cy="2523744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6199632" y="5193792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A98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系统截图：求解器运行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6199632" y="55321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1F6F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217920" y="5769864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OR-Tools CP-SAT，多线程求解</a:t>
            </a:r>
            <a:endParaRPr lang="en-US" sz="9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gap = 与理论下限的差距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亮点 08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省排班员的工时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排班交给求解器算，排班员不用再花几天手工排，结果还比人工更优。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424160" y="411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pPr algn="r" indent="0" marL="0">
              <a:buNone/>
            </a:pPr>
            <a:r>
              <a:rPr lang="en-US" sz="1400" dirty="0">
                <a:solidFill>
                  <a:srgbClr val="8A98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08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240280"/>
            <a:ext cx="2624328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76200" dist="25400" dir="8100000">
              <a:srgbClr val="0B2E4F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2331720"/>
            <a:ext cx="253288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3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数天 → 分钟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21792" y="2898648"/>
            <a:ext cx="2514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排班员排班耗时（精确值待补）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2240280"/>
            <a:ext cx="2624328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76200" dist="25400" dir="8100000">
              <a:srgbClr val="0B2E4F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2331720"/>
            <a:ext cx="253288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3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优于人工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92424" y="2898648"/>
            <a:ext cx="2514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统筹全部约束求最优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3611880"/>
            <a:ext cx="2624328" cy="1874520"/>
          </a:xfrm>
          <a:prstGeom prst="roundRect">
            <a:avLst>
              <a:gd name="adj" fmla="val 3415"/>
            </a:avLst>
          </a:prstGeom>
          <a:solidFill>
            <a:srgbClr val="FBF7EF"/>
          </a:solidFill>
          <a:ln w="12700">
            <a:solidFill>
              <a:srgbClr val="E8DCC4"/>
            </a:solidFill>
            <a:prstDash val="solid"/>
          </a:ln>
          <a:effectLst>
            <a:outerShdw sx="100000" sy="100000" kx="0" ky="0" algn="bl" rotWithShape="0" blurRad="76200" dist="25400" dir="8100000">
              <a:srgbClr val="0B2E4F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813048"/>
            <a:ext cx="109728" cy="109728"/>
          </a:xfrm>
          <a:prstGeom prst="ellipse">
            <a:avLst/>
          </a:prstGeom>
          <a:solidFill>
            <a:srgbClr val="C8A86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21608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A6D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手工排班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350008" y="373989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6D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49808" y="4105656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A98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排班员投入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49808" y="4297680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一格格手工排，几天才排完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49808" y="4773168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A98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排班质量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49808" y="4965192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受人脑限制，难顾全所有约束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37560" y="3611880"/>
            <a:ext cx="2624328" cy="1874520"/>
          </a:xfrm>
          <a:prstGeom prst="roundRect">
            <a:avLst>
              <a:gd name="adj" fmla="val 3415"/>
            </a:avLst>
          </a:prstGeom>
          <a:solidFill>
            <a:srgbClr val="F2FAFD"/>
          </a:solidFill>
          <a:ln w="19050">
            <a:solidFill>
              <a:srgbClr val="BFE0F1"/>
            </a:solidFill>
            <a:prstDash val="solid"/>
          </a:ln>
          <a:effectLst>
            <a:outerShdw sx="100000" sy="100000" kx="0" ky="0" algn="bl" rotWithShape="0" blurRad="76200" dist="25400" dir="8100000">
              <a:srgbClr val="0B2E4F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02152" y="3813048"/>
            <a:ext cx="109728" cy="109728"/>
          </a:xfrm>
          <a:prstGeom prst="ellipse">
            <a:avLst/>
          </a:prstGeom>
          <a:solidFill>
            <a:srgbClr val="16B5AE"/>
          </a:solidFill>
          <a:ln/>
        </p:spPr>
      </p:sp>
      <p:sp>
        <p:nvSpPr>
          <p:cNvPr id="22" name="Text 20"/>
          <p:cNvSpPr/>
          <p:nvPr/>
        </p:nvSpPr>
        <p:spPr>
          <a:xfrm>
            <a:off x="3685032" y="3721608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6F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120640" y="373989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2A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20440" y="4105656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A98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排班员投入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520440" y="4297680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42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求解器自动算，只需微调确认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520440" y="4773168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A98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排班质量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520440" y="4965192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42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求解器统筹所有约束，比人工更优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66928" y="5650992"/>
            <a:ext cx="5394960" cy="713232"/>
          </a:xfrm>
          <a:prstGeom prst="rect">
            <a:avLst/>
          </a:prstGeom>
          <a:solidFill>
            <a:srgbClr val="EAF6F5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928" y="5650992"/>
            <a:ext cx="64008" cy="713232"/>
          </a:xfrm>
          <a:prstGeom prst="rect">
            <a:avLst/>
          </a:prstGeom>
          <a:solidFill>
            <a:srgbClr val="12A8A0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5705856"/>
            <a:ext cx="512064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2A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  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42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排班从手工排几天变成求解器自动算、人只微调；省了排班员的工时，结果也比人工更优。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99632" y="2194560"/>
            <a:ext cx="54406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CF4"/>
            </a:solidFill>
            <a:prstDash val="solid"/>
          </a:ln>
          <a:effectLst>
            <a:outerShdw sx="100000" sy="100000" kx="0" ky="0" algn="bl" rotWithShape="0" blurRad="114300" dist="38100" dir="8100000">
              <a:srgbClr val="0B2E4F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99632" y="2194560"/>
            <a:ext cx="5440680" cy="310896"/>
          </a:xfrm>
          <a:prstGeom prst="rect">
            <a:avLst/>
          </a:prstGeom>
          <a:solidFill>
            <a:srgbClr val="EEF3F8"/>
          </a:solidFill>
          <a:ln/>
        </p:spPr>
      </p:sp>
      <p:sp>
        <p:nvSpPr>
          <p:cNvPr id="33" name="Shape 31"/>
          <p:cNvSpPr/>
          <p:nvPr/>
        </p:nvSpPr>
        <p:spPr>
          <a:xfrm>
            <a:off x="6364224" y="2304288"/>
            <a:ext cx="109728" cy="109728"/>
          </a:xfrm>
          <a:prstGeom prst="ellipse">
            <a:avLst/>
          </a:prstGeom>
          <a:solidFill>
            <a:srgbClr val="F86C6B"/>
          </a:solidFill>
          <a:ln/>
        </p:spPr>
      </p:sp>
      <p:sp>
        <p:nvSpPr>
          <p:cNvPr id="34" name="Shape 32"/>
          <p:cNvSpPr/>
          <p:nvPr/>
        </p:nvSpPr>
        <p:spPr>
          <a:xfrm>
            <a:off x="6547104" y="2304288"/>
            <a:ext cx="109728" cy="109728"/>
          </a:xfrm>
          <a:prstGeom prst="ellipse">
            <a:avLst/>
          </a:prstGeom>
          <a:solidFill>
            <a:srgbClr val="F6BE4F"/>
          </a:solidFill>
          <a:ln/>
        </p:spPr>
      </p:sp>
      <p:sp>
        <p:nvSpPr>
          <p:cNvPr id="35" name="Shape 33"/>
          <p:cNvSpPr/>
          <p:nvPr/>
        </p:nvSpPr>
        <p:spPr>
          <a:xfrm>
            <a:off x="6729984" y="2304288"/>
            <a:ext cx="109728" cy="109728"/>
          </a:xfrm>
          <a:prstGeom prst="ellipse">
            <a:avLst/>
          </a:prstGeom>
          <a:solidFill>
            <a:srgbClr val="4FC08D"/>
          </a:solidFill>
          <a:ln/>
        </p:spPr>
      </p:sp>
      <p:sp>
        <p:nvSpPr>
          <p:cNvPr id="36" name="Text 34"/>
          <p:cNvSpPr/>
          <p:nvPr/>
        </p:nvSpPr>
        <p:spPr>
          <a:xfrm>
            <a:off x="7068312" y="219456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批次甘特 · /batch-gantt</a:t>
            </a:r>
            <a:endParaRPr lang="en-US" sz="950" dirty="0"/>
          </a:p>
        </p:txBody>
      </p:sp>
      <p:pic>
        <p:nvPicPr>
          <p:cNvPr id="37" name="Image 0" descr="/Users/zhengfengyi/MFG8APS/docs/highlights_deck/assets/24_batch_gant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54496" y="2542032"/>
            <a:ext cx="5330952" cy="2523744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6199632" y="5193792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A98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系统截图：求解器产出的整月排班甘特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199632" y="55321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1F6F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217920" y="5769864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求解器自动产出整月排班</a:t>
            </a:r>
            <a:endParaRPr lang="en-US" sz="9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C6B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排班员从手工排几天 → 只需微调确认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60120"/>
            <a:ext cx="12191695" cy="0"/>
          </a:xfrm>
          <a:prstGeom prst="line">
            <a:avLst/>
          </a:prstGeom>
          <a:noFill/>
          <a:ln w="9525">
            <a:solidFill>
              <a:srgbClr val="16B5AE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16B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八项亮点 · 回顾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一套系统，覆盖排产到排班的完整链路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2670048" cy="1051560"/>
          </a:xfrm>
          <a:prstGeom prst="roundRect">
            <a:avLst>
              <a:gd name="adj" fmla="val 6087"/>
            </a:avLst>
          </a:prstGeom>
          <a:solidFill>
            <a:srgbClr val="12305A"/>
          </a:solidFill>
          <a:ln w="12700">
            <a:solidFill>
              <a:srgbClr val="2450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11226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B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亮点 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87552" y="2386584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AF2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一线自研的敏捷开发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0" y="1965960"/>
            <a:ext cx="2670048" cy="1051560"/>
          </a:xfrm>
          <a:prstGeom prst="roundRect">
            <a:avLst>
              <a:gd name="adj" fmla="val 6087"/>
            </a:avLst>
          </a:prstGeom>
          <a:solidFill>
            <a:srgbClr val="12305A"/>
          </a:solidFill>
          <a:ln w="12700">
            <a:solidFill>
              <a:srgbClr val="2450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22192" y="211226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B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亮点 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22192" y="2386584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AF2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排产模板化，绕开自动排产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92240" y="1965960"/>
            <a:ext cx="2670048" cy="1051560"/>
          </a:xfrm>
          <a:prstGeom prst="roundRect">
            <a:avLst>
              <a:gd name="adj" fmla="val 6087"/>
            </a:avLst>
          </a:prstGeom>
          <a:solidFill>
            <a:srgbClr val="12305A"/>
          </a:solidFill>
          <a:ln w="12700">
            <a:solidFill>
              <a:srgbClr val="2450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56832" y="211226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B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亮点 03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56832" y="2386584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AF2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排班覆盖全工艺流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326880" y="1965960"/>
            <a:ext cx="2670048" cy="1051560"/>
          </a:xfrm>
          <a:prstGeom prst="roundRect">
            <a:avLst>
              <a:gd name="adj" fmla="val 6087"/>
            </a:avLst>
          </a:prstGeom>
          <a:solidFill>
            <a:srgbClr val="12305A"/>
          </a:solidFill>
          <a:ln w="12700">
            <a:solidFill>
              <a:srgbClr val="2450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91472" y="211226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B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亮点 04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491472" y="2386584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AF2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工艺和独立任务一起排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3200400"/>
            <a:ext cx="2670048" cy="1051560"/>
          </a:xfrm>
          <a:prstGeom prst="roundRect">
            <a:avLst>
              <a:gd name="adj" fmla="val 6087"/>
            </a:avLst>
          </a:prstGeom>
          <a:solidFill>
            <a:srgbClr val="12305A"/>
          </a:solidFill>
          <a:ln w="12700">
            <a:solidFill>
              <a:srgbClr val="24507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33467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B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亮点 05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87552" y="3621024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AF2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排班按资质等级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57600" y="3200400"/>
            <a:ext cx="2670048" cy="1051560"/>
          </a:xfrm>
          <a:prstGeom prst="roundRect">
            <a:avLst>
              <a:gd name="adj" fmla="val 6087"/>
            </a:avLst>
          </a:prstGeom>
          <a:solidFill>
            <a:srgbClr val="12305A"/>
          </a:solidFill>
          <a:ln w="12700">
            <a:solidFill>
              <a:srgbClr val="24507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22192" y="33467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B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亮点 06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22192" y="3621024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AF2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请假一键换人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92240" y="3200400"/>
            <a:ext cx="2670048" cy="1051560"/>
          </a:xfrm>
          <a:prstGeom prst="roundRect">
            <a:avLst>
              <a:gd name="adj" fmla="val 6087"/>
            </a:avLst>
          </a:prstGeom>
          <a:solidFill>
            <a:srgbClr val="12305A"/>
          </a:solidFill>
          <a:ln w="12700">
            <a:solidFill>
              <a:srgbClr val="24507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56832" y="33467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B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亮点 07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56832" y="3621024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AF2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求解速度快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326880" y="3200400"/>
            <a:ext cx="2670048" cy="1051560"/>
          </a:xfrm>
          <a:prstGeom prst="roundRect">
            <a:avLst>
              <a:gd name="adj" fmla="val 6087"/>
            </a:avLst>
          </a:prstGeom>
          <a:solidFill>
            <a:srgbClr val="12305A"/>
          </a:solidFill>
          <a:ln w="12700">
            <a:solidFill>
              <a:srgbClr val="24507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91472" y="33467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B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亮点 08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491472" y="3621024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AF2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省排班员的工时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2960" y="5349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从排产到排班，一条线打通</a:t>
            </a:r>
            <a:pPr algn="l" indent="0" marL="0">
              <a:buNone/>
            </a:pPr>
            <a:r>
              <a:rPr lang="en-US" sz="1800" dirty="0">
                <a:solidFill>
                  <a:srgbClr val="16B5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少返工、快响应、省人力。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22960" y="6035040"/>
            <a:ext cx="20116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/>
        </p:spPr>
      </p:sp>
      <p:pic>
        <p:nvPicPr>
          <p:cNvPr id="31" name="Image 0" descr="/Users/zhengfengyi/MFG8APS/docs/highlights_deck/assets/wuxibio-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0976" y="6163056"/>
            <a:ext cx="1755648" cy="310896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3108960" y="6035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E92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生产排产 · 排班系统 · 项目亮点演示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生产排产·排班系统 — 项目亮点</dc:title>
  <dc:subject>PptxGenJS Presentation</dc:subject>
  <dc:creator>MFG8 APS</dc:creator>
  <cp:lastModifiedBy>MFG8 APS</cp:lastModifiedBy>
  <cp:revision>1</cp:revision>
  <dcterms:created xsi:type="dcterms:W3CDTF">2026-06-16T19:33:08Z</dcterms:created>
  <dcterms:modified xsi:type="dcterms:W3CDTF">2026-06-16T19:33:08Z</dcterms:modified>
</cp:coreProperties>
</file>