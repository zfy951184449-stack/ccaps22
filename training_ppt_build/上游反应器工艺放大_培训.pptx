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3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4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5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体积 V ∝ r³</c:v>
                </c:pt>
              </c:strCache>
            </c:strRef>
          </c:tx>
          <c:spPr>
            <a:solidFill>
              <a:srgbClr val="0E7C6B"/>
            </a:solidFill>
            <a:ln w="38100" cap="flat">
              <a:solidFill>
                <a:srgbClr val="0E7C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6B"/>
              </a:solidFill>
              <a:ln w="9525" cap="flat">
                <a:solidFill>
                  <a:srgbClr val="0E7C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8</c:v>
                </c:pt>
                <c:pt idx="2">
                  <c:v>27</c:v>
                </c:pt>
                <c:pt idx="3">
                  <c:v>64</c:v>
                </c:pt>
                <c:pt idx="4">
                  <c:v>125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表面积 A ∝ r²</c:v>
                </c:pt>
              </c:strCache>
            </c:strRef>
          </c:tx>
          <c:spPr>
            <a:solidFill>
              <a:srgbClr val="D98A1E"/>
            </a:solidFill>
            <a:ln w="38100" cap="flat">
              <a:solidFill>
                <a:srgbClr val="D9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8A1E"/>
              </a:solidFill>
              <a:ln w="9525" cap="flat">
                <a:solidFill>
                  <a:srgbClr val="D9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8AA39C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8AA39C"/>
                    </a:solidFill>
                    <a:latin typeface="Arial"/>
                  </a:rPr>
                  <a:t>半径 r(相对)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A3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F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A3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16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5E716C"/>
                </a:solidFill>
                <a:latin typeface="Arial"/>
              </a:defRPr>
            </a:pPr>
            <a:r>
              <a:rPr sz="900" b="0" i="0" u="none" strike="noStrike">
                <a:solidFill>
                  <a:srgbClr val="5E716C"/>
                </a:solidFill>
                <a:latin typeface="Arial"/>
              </a:rPr>
              <a:t>两方案相对量对比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恒定 P/V</c:v>
                </c:pt>
              </c:strCache>
            </c:strRef>
          </c:tx>
          <c:spPr>
            <a:solidFill>
              <a:srgbClr val="0E7C6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转速比 N₂/N₁</c:v>
                  </c:pt>
                  <c:pt idx="1">
                    <c:v>tip speed 比</c:v>
                  </c:pt>
                  <c:pt idx="2">
                    <c:v>P/V 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</c:v>
                </c:pt>
                <c:pt idx="1">
                  <c:v>1.5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恒定 tip speed</c:v>
                </c:pt>
              </c:strCache>
            </c:strRef>
          </c:tx>
          <c:spPr>
            <a:solidFill>
              <a:srgbClr val="D98A1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转速比 N₂/N₁</c:v>
                  </c:pt>
                  <c:pt idx="1">
                    <c:v>tip speed 比</c:v>
                  </c:pt>
                  <c:pt idx="2">
                    <c:v>P/V 比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0.29</c:v>
                </c:pt>
                <c:pt idx="1">
                  <c:v>1</c:v>
                </c:pt>
                <c:pt idx="2">
                  <c:v>0.29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F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A3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16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50" b="0" i="0" u="none" strike="noStrike">
                <a:solidFill>
                  <a:srgbClr val="5E716C"/>
                </a:solidFill>
                <a:latin typeface="Arial"/>
              </a:defRPr>
            </a:pPr>
            <a:r>
              <a:rPr sz="850" b="0" i="0" u="none" strike="noStrike">
                <a:solidFill>
                  <a:srgbClr val="5E716C"/>
                </a:solidFill>
                <a:latin typeface="Arial"/>
              </a:rPr>
              <a:t>随体积放大:供氧↓ 而需求↑ → 供氧风险区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供氧能力 kLa</c:v>
                </c:pt>
              </c:strCache>
            </c:strRef>
          </c:tx>
          <c:spPr>
            <a:solidFill>
              <a:srgbClr val="0E7C6B"/>
            </a:solidFill>
            <a:ln w="38100" cap="flat">
              <a:solidFill>
                <a:srgbClr val="0E7C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6B"/>
              </a:solidFill>
              <a:ln w="9525" cap="flat">
                <a:solidFill>
                  <a:srgbClr val="0E7C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2L</c:v>
                  </c:pt>
                  <c:pt idx="1">
                    <c:v>20L</c:v>
                  </c:pt>
                  <c:pt idx="2">
                    <c:v>200L</c:v>
                  </c:pt>
                  <c:pt idx="3">
                    <c:v>2000L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  <c:pt idx="3">
                  <c:v>42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细胞耗氧 OUR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2L</c:v>
                  </c:pt>
                  <c:pt idx="1">
                    <c:v>20L</c:v>
                  </c:pt>
                  <c:pt idx="2">
                    <c:v>200L</c:v>
                  </c:pt>
                  <c:pt idx="3">
                    <c:v>2000L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45</c:v>
                </c:pt>
                <c:pt idx="2">
                  <c:v>50</c:v>
                </c:pt>
                <c:pt idx="3">
                  <c:v>58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F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A3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16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安全区</c:v>
                </c:pt>
              </c:strCache>
            </c:strRef>
          </c:tx>
          <c:spPr>
            <a:solidFill>
              <a:srgbClr val="17A98C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17A98C"/>
              </a:solidFill>
              <a:ln w="9525" cap="flat">
                <a:solidFill>
                  <a:srgbClr val="17A98C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6.7</c:v>
                </c:pt>
                <c:pt idx="1">
                  <c:v>7.2</c:v>
                </c:pt>
                <c:pt idx="2">
                  <c:v>6.9</c:v>
                </c:pt>
                <c:pt idx="3">
                  <c:v>7</c:v>
                </c:pt>
                <c:pt idx="4">
                  <c:v>7.1</c:v>
                </c:pt>
                <c:pt idx="5">
                  <c:v>6.8</c:v>
                </c:pt>
                <c:pt idx="6">
                  <c:v>7.05</c:v>
                </c:pt>
                <c:pt idx="7">
                  <c:v>7.5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36</c:v>
                </c:pt>
                <c:pt idx="1">
                  <c:v>37</c:v>
                </c:pt>
                <c:pt idx="2">
                  <c:v>36.5</c:v>
                </c:pt>
                <c:pt idx="3">
                  <c:v>37</c:v>
                </c:pt>
                <c:pt idx="4">
                  <c:v>36.8</c:v>
                </c:pt>
                <c:pt idx="5">
                  <c:v>37.2</c:v>
                </c:pt>
                <c:pt idx="6">
                  <c:v>36.6</c:v>
                </c:pt>
                <c:pt idx="7">
                  <c:v>33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.6"/>
          <c:min val="6.5"/>
        </c:scaling>
        <c:delete val="0"/>
        <c:axPos val="b"/>
        <c:majorGridlines>
          <c:spPr>
            <a:ln w="6350" cap="flat">
              <a:solidFill>
                <a:srgbClr val="E2EF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8AA39C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8AA39C"/>
                    </a:solidFill>
                    <a:latin typeface="Arial"/>
                  </a:rPr>
                  <a:t>pH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A3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38"/>
          <c:min val="32"/>
        </c:scaling>
        <c:delete val="0"/>
        <c:axPos val="l"/>
        <c:majorGridlines>
          <c:spPr>
            <a:ln w="6350" cap="flat">
              <a:solidFill>
                <a:srgbClr val="E2EF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8AA39C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8AA39C"/>
                    </a:solidFill>
                    <a:latin typeface="Arial"/>
                  </a:rPr>
                  <a:t>温度 ℃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A3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50" b="0" i="0" u="none" strike="noStrike">
                <a:solidFill>
                  <a:srgbClr val="5E716C"/>
                </a:solidFill>
                <a:latin typeface="Arial"/>
              </a:defRPr>
            </a:pPr>
            <a:r>
              <a:rPr sz="850" b="0" i="0" u="none" strike="noStrike">
                <a:solidFill>
                  <a:srgbClr val="5E716C"/>
                </a:solidFill>
                <a:latin typeface="Arial"/>
              </a:rPr>
              <a:t>活细胞密度 VCD(×10⁶)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强化灌流</c:v>
                </c:pt>
              </c:strCache>
            </c:strRef>
          </c:tx>
          <c:spPr>
            <a:solidFill>
              <a:srgbClr val="0E7C6B"/>
            </a:solidFill>
            <a:ln w="38100" cap="flat">
              <a:solidFill>
                <a:srgbClr val="0E7C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6B"/>
              </a:solidFill>
              <a:ln w="9525" cap="flat">
                <a:solidFill>
                  <a:srgbClr val="0E7C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3</c:v>
                  </c:pt>
                  <c:pt idx="2">
                    <c:v>6</c:v>
                  </c:pt>
                  <c:pt idx="3">
                    <c:v>9</c:v>
                  </c:pt>
                  <c:pt idx="4">
                    <c:v>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8</c:v>
                </c:pt>
                <c:pt idx="2">
                  <c:v>22</c:v>
                </c:pt>
                <c:pt idx="3">
                  <c:v>45</c:v>
                </c:pt>
                <c:pt idx="4">
                  <c:v>60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常规流加</c:v>
                </c:pt>
              </c:strCache>
            </c:strRef>
          </c:tx>
          <c:spPr>
            <a:solidFill>
              <a:srgbClr val="D98A1E"/>
            </a:solidFill>
            <a:ln w="38100" cap="flat">
              <a:solidFill>
                <a:srgbClr val="D9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8A1E"/>
              </a:solidFill>
              <a:ln w="9525" cap="flat">
                <a:solidFill>
                  <a:srgbClr val="D9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3</c:v>
                  </c:pt>
                  <c:pt idx="2">
                    <c:v>6</c:v>
                  </c:pt>
                  <c:pt idx="3">
                    <c:v>9</c:v>
                  </c:pt>
                  <c:pt idx="4">
                    <c:v>12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12</c:v>
                </c:pt>
                <c:pt idx="3">
                  <c:v>18</c:v>
                </c:pt>
                <c:pt idx="4">
                  <c:v>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8AA39C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8AA39C"/>
                    </a:solidFill>
                    <a:latin typeface="Arial"/>
                  </a:rPr>
                  <a:t>天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A3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F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A3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16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0C5246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1554480"/>
            <a:ext cx="1737360" cy="2414016"/>
          </a:xfrm>
          <a:prstGeom prst="roundRect">
            <a:avLst>
              <a:gd name="adj" fmla="val 4211"/>
            </a:avLst>
          </a:prstGeom>
          <a:solidFill>
            <a:srgbClr val="0C5246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58768"/>
            <a:ext cx="1737360" cy="219456"/>
          </a:xfrm>
          <a:prstGeom prst="ellipse">
            <a:avLst/>
          </a:prstGeom>
          <a:solidFill>
            <a:srgbClr val="0C5246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55480" y="2520086"/>
            <a:ext cx="1645920" cy="1393546"/>
          </a:xfrm>
          <a:prstGeom prst="rect">
            <a:avLst/>
          </a:prstGeom>
          <a:solidFill>
            <a:srgbClr val="12806C"/>
          </a:solidFill>
          <a:ln/>
        </p:spPr>
      </p:sp>
      <p:sp>
        <p:nvSpPr>
          <p:cNvPr id="7" name="Shape 5"/>
          <p:cNvSpPr/>
          <p:nvPr/>
        </p:nvSpPr>
        <p:spPr>
          <a:xfrm>
            <a:off x="10355580" y="1389888"/>
            <a:ext cx="45720" cy="1786372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8" name="Shape 6"/>
          <p:cNvSpPr/>
          <p:nvPr/>
        </p:nvSpPr>
        <p:spPr>
          <a:xfrm>
            <a:off x="10085832" y="2568367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9" name="Shape 7"/>
          <p:cNvSpPr/>
          <p:nvPr/>
        </p:nvSpPr>
        <p:spPr>
          <a:xfrm>
            <a:off x="10085832" y="3147731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0" name="Shape 8"/>
          <p:cNvSpPr/>
          <p:nvPr/>
        </p:nvSpPr>
        <p:spPr>
          <a:xfrm>
            <a:off x="10177272" y="3485693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0" y="332110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51008" y="324794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60736" y="3302813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14432" y="338510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05872" y="338510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960120"/>
            <a:ext cx="822960" cy="64008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10312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1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Upstream Bioreactor Process Scale-up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把小罐里跑通的细胞培养工艺,搬到大罐里依然跑得好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8046720" cy="20117"/>
          </a:xfrm>
          <a:prstGeom prst="rect">
            <a:avLst/>
          </a:prstGeom>
          <a:solidFill>
            <a:srgbClr val="2A6B5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  </a:t>
            </a:r>
            <a:pPr algn="l" indent="0" marL="0">
              <a:buNone/>
            </a:pPr>
            <a:r>
              <a:rPr lang="en-US" sz="1200" dirty="0">
                <a:solidFill>
                  <a:srgbClr val="D7EF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上游工艺新员工(应届 / 新转岗)      </a:t>
            </a:r>
            <a:pPr algn="l" indent="0" marL="0">
              <a:buNone/>
            </a:pPr>
            <a:r>
              <a:rPr lang="en-US" sz="1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  </a:t>
            </a:r>
            <a:pPr algn="l" indent="0" marL="0">
              <a:buNone/>
            </a:pPr>
            <a:r>
              <a:rPr lang="en-US" sz="1200" dirty="0">
                <a:solidFill>
                  <a:srgbClr val="D7EF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90 分钟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新员工入门系列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培训目标与上游工艺全景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我们要解决什么、上游链条长什么样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5272888" cy="0"/>
          </a:xfrm>
          <a:prstGeom prst="line">
            <a:avLst/>
          </a:prstGeom>
          <a:noFill/>
          <a:ln w="9525">
            <a:solidFill>
              <a:srgbClr val="CFE5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4144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2441448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什么是工艺放大、为什么要放大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放大的不是罐子,是细胞的体感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5272888" cy="0"/>
          </a:xfrm>
          <a:prstGeom prst="line">
            <a:avLst/>
          </a:prstGeom>
          <a:noFill/>
          <a:ln w="9525">
            <a:solidFill>
              <a:srgbClr val="CFE5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9125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3191256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生物反应器类型与结构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 / SUB / WAVE 三类硬件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5272888" cy="0"/>
          </a:xfrm>
          <a:prstGeom prst="line">
            <a:avLst/>
          </a:prstGeom>
          <a:noFill/>
          <a:ln w="9525">
            <a:solidFill>
              <a:srgbClr val="CFE5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4106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3941064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关键工艺参数 CPP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 / pH / DO / 搅拌通气 / 补料 / CO₂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81144"/>
            <a:ext cx="5272888" cy="0"/>
          </a:xfrm>
          <a:prstGeom prst="line">
            <a:avLst/>
          </a:prstGeom>
          <a:noFill/>
          <a:ln w="9525">
            <a:solidFill>
              <a:srgbClr val="CFE5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9087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4690872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放大的工程原理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P/V、kLa、tip speed、混合时间与不可能三角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30952"/>
            <a:ext cx="5272888" cy="0"/>
          </a:xfrm>
          <a:prstGeom prst="line">
            <a:avLst/>
          </a:prstGeom>
          <a:noFill/>
          <a:ln w="9525">
            <a:solidFill>
              <a:srgbClr val="CFE5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4406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34440" y="5440680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放大准则与策略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三大准则:保什么、牺牲什么、怎么选 + 放大算例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080760"/>
            <a:ext cx="5272888" cy="0"/>
          </a:xfrm>
          <a:prstGeom prst="line">
            <a:avLst/>
          </a:prstGeom>
          <a:noFill/>
          <a:ln w="9525">
            <a:solidFill>
              <a:srgbClr val="CFE5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16916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64528" y="1691640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种子扩增策略 Seed Train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N-x 命名与逐级接力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78728" y="2331720"/>
            <a:ext cx="5272888" cy="0"/>
          </a:xfrm>
          <a:prstGeom prst="line">
            <a:avLst/>
          </a:prstGeom>
          <a:noFill/>
          <a:ln w="9525">
            <a:solidFill>
              <a:srgbClr val="CFE5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8728" y="244144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64528" y="2441448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放大中的挑战与风险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梯度、剪切、CO₂、泡沫、传质受限 + 排障速查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78728" y="3081528"/>
            <a:ext cx="5272888" cy="0"/>
          </a:xfrm>
          <a:prstGeom prst="line">
            <a:avLst/>
          </a:prstGeom>
          <a:noFill/>
          <a:ln w="9525">
            <a:solidFill>
              <a:srgbClr val="CFE5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8728" y="319125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64528" y="3191256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过程监测与控制 / PAT / QbD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看得见、控得住、有依据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78728" y="3831336"/>
            <a:ext cx="5272888" cy="0"/>
          </a:xfrm>
          <a:prstGeom prst="line">
            <a:avLst/>
          </a:prstGeom>
          <a:noFill/>
          <a:ln w="9525">
            <a:solidFill>
              <a:srgbClr val="CFE5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8728" y="394106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964528" y="3941064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工艺可比性与放大失败教训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成功的最终判据与避坑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78728" y="4581144"/>
            <a:ext cx="5272888" cy="0"/>
          </a:xfrm>
          <a:prstGeom prst="line">
            <a:avLst/>
          </a:prstGeom>
          <a:noFill/>
          <a:ln w="9525">
            <a:solidFill>
              <a:srgbClr val="CFE5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8728" y="469087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964528" y="4690872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药明生物平台实践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一次性技术、平台化与你的成长路径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78728" y="5330952"/>
            <a:ext cx="5272888" cy="0"/>
          </a:xfrm>
          <a:prstGeom prst="line">
            <a:avLst/>
          </a:prstGeom>
          <a:noFill/>
          <a:ln w="9525">
            <a:solidFill>
              <a:srgbClr val="CFE5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8728" y="54406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964528" y="5440680"/>
            <a:ext cx="463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 Q&amp;A</a:t>
            </a:r>
            <a:endParaRPr lang="en-US" sz="1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把概念变成现场的手感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78728" y="6080760"/>
            <a:ext cx="5272888" cy="0"/>
          </a:xfrm>
          <a:prstGeom prst="line">
            <a:avLst/>
          </a:prstGeom>
          <a:noFill/>
          <a:ln w="9525">
            <a:solidFill>
              <a:srgbClr val="CFE5D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01 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914400" cy="73152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培训目标与上游工艺全景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放大不是单独一步,而是贯穿从冻存管到生产罐的整条上游链。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2895" y="6035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B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本次培训:解决什么问题、学完你能做什么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673352" y="1078992"/>
            <a:ext cx="99697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放大≠等比变大,要保的是细胞看到的微环境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培训目标与上游工艺全景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1481328"/>
            <a:ext cx="54406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主题一句话:把小罐里跑通的细胞培养工艺,搬到大罐里依然跑得好——这就是上游反应器工艺放大。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目标①:能说清『放大不是简单等比例变大』,我们真正要保持一致的是细胞感受到的微环境,而不是罐子的外形尺寸。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目标②:认识三类主流生物反应器(不锈钢搅拌罐 STR、一次性 SUB、微生物发酵罐)的结构与适用场景。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目标③:掌握上游关键工艺参数 CPP——温度、pH、溶氧 DO、搅拌、通气等控什么、为什么重要。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目标④:理解支配放大的工程原理(P/V、kLa、tip speed)与三种主流放大准则。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目标⑤:建立放大的『风险地图』与『可比性』意识——知道大罐里哪里容易出事、怎样判断放大成功。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389888"/>
            <a:ext cx="5742432" cy="3429000"/>
          </a:xfrm>
          <a:prstGeom prst="roundRect">
            <a:avLst>
              <a:gd name="adj" fmla="val 1600"/>
            </a:avLst>
          </a:prstGeom>
          <a:solidFill>
            <a:srgbClr val="F2FAF7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572768"/>
            <a:ext cx="819302" cy="566928"/>
          </a:xfrm>
          <a:prstGeom prst="roundRect">
            <a:avLst>
              <a:gd name="adj" fmla="val 1129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1572768"/>
            <a:ext cx="6364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73798" y="1709928"/>
            <a:ext cx="274320" cy="292608"/>
          </a:xfrm>
          <a:prstGeom prst="chevron">
            <a:avLst/>
          </a:prstGeom>
          <a:solidFill>
            <a:srgbClr val="0E7C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66406" y="1572768"/>
            <a:ext cx="819302" cy="566928"/>
          </a:xfrm>
          <a:prstGeom prst="roundRect">
            <a:avLst>
              <a:gd name="adj" fmla="val 11290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7846" y="1572768"/>
            <a:ext cx="6364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03997" y="1709928"/>
            <a:ext cx="274320" cy="292608"/>
          </a:xfrm>
          <a:prstGeom prst="chevron">
            <a:avLst/>
          </a:prstGeom>
          <a:solidFill>
            <a:srgbClr val="0E7C6B"/>
          </a:solidFill>
          <a:ln/>
        </p:spPr>
      </p:sp>
      <p:sp>
        <p:nvSpPr>
          <p:cNvPr id="20" name="Shape 18"/>
          <p:cNvSpPr/>
          <p:nvPr/>
        </p:nvSpPr>
        <p:spPr>
          <a:xfrm>
            <a:off x="8496605" y="1572768"/>
            <a:ext cx="819302" cy="566928"/>
          </a:xfrm>
          <a:prstGeom prst="roundRect">
            <a:avLst>
              <a:gd name="adj" fmla="val 11290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88045" y="1572768"/>
            <a:ext cx="6364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334195" y="1709928"/>
            <a:ext cx="274320" cy="292608"/>
          </a:xfrm>
          <a:prstGeom prst="chevron">
            <a:avLst/>
          </a:prstGeom>
          <a:solidFill>
            <a:srgbClr val="0E7C6B"/>
          </a:solidFill>
          <a:ln/>
        </p:spPr>
      </p:sp>
      <p:sp>
        <p:nvSpPr>
          <p:cNvPr id="23" name="Shape 21"/>
          <p:cNvSpPr/>
          <p:nvPr/>
        </p:nvSpPr>
        <p:spPr>
          <a:xfrm>
            <a:off x="9626803" y="1572768"/>
            <a:ext cx="819302" cy="566928"/>
          </a:xfrm>
          <a:prstGeom prst="roundRect">
            <a:avLst>
              <a:gd name="adj" fmla="val 11290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18243" y="1572768"/>
            <a:ext cx="6364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原理·准则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464394" y="1709928"/>
            <a:ext cx="274320" cy="292608"/>
          </a:xfrm>
          <a:prstGeom prst="chevron">
            <a:avLst/>
          </a:prstGeom>
          <a:solidFill>
            <a:srgbClr val="0E7C6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57002" y="1572768"/>
            <a:ext cx="819302" cy="566928"/>
          </a:xfrm>
          <a:prstGeom prst="roundRect">
            <a:avLst>
              <a:gd name="adj" fmla="val 11290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48442" y="1572768"/>
            <a:ext cx="6364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风险·可比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50762" y="2441448"/>
            <a:ext cx="438912" cy="438912"/>
          </a:xfrm>
          <a:prstGeom prst="ellipse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6208" y="2944368"/>
            <a:ext cx="10680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微环境一致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18781" y="2441448"/>
            <a:ext cx="438912" cy="438912"/>
          </a:xfrm>
          <a:prstGeom prst="ellipse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04227" y="2944368"/>
            <a:ext cx="10680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三类反应器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0" y="2441448"/>
            <a:ext cx="438912" cy="438912"/>
          </a:xfrm>
          <a:prstGeom prst="ellipse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72246" y="2944368"/>
            <a:ext cx="10680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 CPP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754819" y="2441448"/>
            <a:ext cx="438912" cy="438912"/>
          </a:xfrm>
          <a:prstGeom prst="ellipse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40266" y="2944368"/>
            <a:ext cx="10680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原理与准则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2838" y="2441448"/>
            <a:ext cx="438912" cy="438912"/>
          </a:xfrm>
          <a:prstGeom prst="ellipse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08285" y="2944368"/>
            <a:ext cx="10680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风险与可比性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4476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39" name="Shape 37"/>
          <p:cNvSpPr/>
          <p:nvPr/>
        </p:nvSpPr>
        <p:spPr>
          <a:xfrm>
            <a:off x="614476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40" name="Text 38"/>
          <p:cNvSpPr/>
          <p:nvPr/>
        </p:nvSpPr>
        <p:spPr>
          <a:xfrm>
            <a:off x="627278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受众:上游新员工(应届/新转岗),理工基础够用,缺放大实战经验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897940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42" name="Shape 40"/>
          <p:cNvSpPr/>
          <p:nvPr/>
        </p:nvSpPr>
        <p:spPr>
          <a:xfrm>
            <a:off x="897940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43" name="Text 41"/>
          <p:cNvSpPr/>
          <p:nvPr/>
        </p:nvSpPr>
        <p:spPr>
          <a:xfrm>
            <a:off x="910742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工艺背景:以 CHO 哺乳动物细胞培养为主,兼顾微生物发酵对比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614476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45" name="Shape 43"/>
          <p:cNvSpPr/>
          <p:nvPr/>
        </p:nvSpPr>
        <p:spPr>
          <a:xfrm>
            <a:off x="614476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46" name="Text 44"/>
          <p:cNvSpPr/>
          <p:nvPr/>
        </p:nvSpPr>
        <p:spPr>
          <a:xfrm>
            <a:off x="627278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硬件范围:不锈钢搅拌罐 STR + 一次性生物反应器 SUB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897940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48" name="Shape 46"/>
          <p:cNvSpPr/>
          <p:nvPr/>
        </p:nvSpPr>
        <p:spPr>
          <a:xfrm>
            <a:off x="897940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49" name="Text 47"/>
          <p:cNvSpPr/>
          <p:nvPr/>
        </p:nvSpPr>
        <p:spPr>
          <a:xfrm>
            <a:off x="910742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学习路径:概念→硬件→参数→原理→准则→种子链→风险→监测→可比性→平台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上游工艺全景:从一支冻存管到一罐培养液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673352" y="1078992"/>
            <a:ext cx="99697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『放大』藏在哪一步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培训目标与上游工艺全景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先分清边界:上游(Upstream)负责把目标蛋白生产出来——养细胞、让细胞表达产物;下游(Downstream)负责把产物从一锅汤里纯化出来。本次只聚焦上游。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上游主链条(记住这条线):细胞复苏 → 种子扩增(Seed Train,逐级摇瓶/小罐放大)→ 生产反应器(N 级主培养)→ 收获(Harvest,把细胞与上清分开交给下游)。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种子扩增用 N-x 命名:生产罐叫 N,往前一级叫 N-1,再往前 N-2……每一级都是一次小型放大。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『放大』不是单独一步,而是贯穿整条链:从几毫升摇瓶,逐级放大到 50L/200L/500L/2000L,直到商业化规模。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放大要保持的不是体积比例,而是细胞看到的微环境:营养、溶氧、剪切、pH、混合均匀度——罐越大越难处处一致。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CMO 多产品/多平台特殊性:同一套设备服务不同客户、细胞株、规模,放大必须靠标准化平台工艺 + scale-down 模型。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9395460" cy="310896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71800"/>
            <a:ext cx="733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 Upstream(养细胞 · 表达产物)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44100" y="2971800"/>
            <a:ext cx="1696212" cy="31089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17" name="Text 15"/>
          <p:cNvSpPr/>
          <p:nvPr/>
        </p:nvSpPr>
        <p:spPr>
          <a:xfrm>
            <a:off x="9944100" y="2971800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下游(不展开)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3826" y="4526280"/>
            <a:ext cx="777240" cy="1143000"/>
          </a:xfrm>
          <a:prstGeom prst="roundRect">
            <a:avLst>
              <a:gd name="adj" fmla="val 5882"/>
            </a:avLst>
          </a:prstGeom>
          <a:solidFill>
            <a:srgbClr val="F2FAF7"/>
          </a:solidFill>
          <a:ln w="16510">
            <a:solidFill>
              <a:srgbClr val="0E7C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705856"/>
            <a:ext cx="1467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冻存管</a:t>
            </a:r>
            <a:endParaRPr lang="en-US" sz="9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复苏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71116" y="5230368"/>
            <a:ext cx="347472" cy="237744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21" name="Shape 19"/>
          <p:cNvSpPr/>
          <p:nvPr/>
        </p:nvSpPr>
        <p:spPr>
          <a:xfrm>
            <a:off x="2780233" y="4361688"/>
            <a:ext cx="854050" cy="1150681"/>
          </a:xfrm>
          <a:prstGeom prst="roundRect">
            <a:avLst>
              <a:gd name="adj" fmla="val 8565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0233" y="5402641"/>
            <a:ext cx="854050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25953" y="4821960"/>
            <a:ext cx="762610" cy="635545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4398" y="4197096"/>
            <a:ext cx="45720" cy="851504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25" name="Text 23"/>
          <p:cNvSpPr/>
          <p:nvPr/>
        </p:nvSpPr>
        <p:spPr>
          <a:xfrm>
            <a:off x="2473452" y="5705856"/>
            <a:ext cx="1467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摇瓶</a:t>
            </a:r>
            <a:endParaRPr lang="en-US" sz="9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数百 mL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995928" y="5230368"/>
            <a:ext cx="347472" cy="237744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27" name="Shape 25"/>
          <p:cNvSpPr/>
          <p:nvPr/>
        </p:nvSpPr>
        <p:spPr>
          <a:xfrm>
            <a:off x="4653839" y="4142232"/>
            <a:ext cx="956462" cy="1343802"/>
          </a:xfrm>
          <a:prstGeom prst="roundRect">
            <a:avLst>
              <a:gd name="adj" fmla="val 7648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53839" y="5376306"/>
            <a:ext cx="956462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99559" y="4679753"/>
            <a:ext cx="865022" cy="751417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30" name="Shape 28"/>
          <p:cNvSpPr/>
          <p:nvPr/>
        </p:nvSpPr>
        <p:spPr>
          <a:xfrm>
            <a:off x="5109210" y="3977640"/>
            <a:ext cx="45720" cy="994414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31" name="Shape 29"/>
          <p:cNvSpPr/>
          <p:nvPr/>
        </p:nvSpPr>
        <p:spPr>
          <a:xfrm>
            <a:off x="4839462" y="4706629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2" name="Shape 30"/>
          <p:cNvSpPr/>
          <p:nvPr/>
        </p:nvSpPr>
        <p:spPr>
          <a:xfrm>
            <a:off x="4839462" y="5029141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3" name="Shape 31"/>
          <p:cNvSpPr/>
          <p:nvPr/>
        </p:nvSpPr>
        <p:spPr>
          <a:xfrm>
            <a:off x="4930902" y="5217274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4" name="Shape 32"/>
          <p:cNvSpPr/>
          <p:nvPr/>
        </p:nvSpPr>
        <p:spPr>
          <a:xfrm>
            <a:off x="4994910" y="5052682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5" name="Shape 33"/>
          <p:cNvSpPr/>
          <p:nvPr/>
        </p:nvSpPr>
        <p:spPr>
          <a:xfrm>
            <a:off x="5104638" y="4979530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6" name="Shape 34"/>
          <p:cNvSpPr/>
          <p:nvPr/>
        </p:nvSpPr>
        <p:spPr>
          <a:xfrm>
            <a:off x="5214366" y="5034394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7" name="Shape 35"/>
          <p:cNvSpPr/>
          <p:nvPr/>
        </p:nvSpPr>
        <p:spPr>
          <a:xfrm>
            <a:off x="5068062" y="5116690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8" name="Shape 36"/>
          <p:cNvSpPr/>
          <p:nvPr/>
        </p:nvSpPr>
        <p:spPr>
          <a:xfrm>
            <a:off x="5159502" y="5116690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9" name="Text 37"/>
          <p:cNvSpPr/>
          <p:nvPr/>
        </p:nvSpPr>
        <p:spPr>
          <a:xfrm>
            <a:off x="4398264" y="5705856"/>
            <a:ext cx="1467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种子罐 N-2</a:t>
            </a:r>
            <a:endParaRPr lang="en-US" sz="9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20740" y="5230368"/>
            <a:ext cx="347472" cy="237744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41" name="Shape 39"/>
          <p:cNvSpPr/>
          <p:nvPr/>
        </p:nvSpPr>
        <p:spPr>
          <a:xfrm>
            <a:off x="6524244" y="3909060"/>
            <a:ext cx="1065276" cy="1548994"/>
          </a:xfrm>
          <a:prstGeom prst="roundRect">
            <a:avLst>
              <a:gd name="adj" fmla="val 6867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4244" y="5348326"/>
            <a:ext cx="1065276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69964" y="4528657"/>
            <a:ext cx="973836" cy="874532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44" name="Shape 42"/>
          <p:cNvSpPr/>
          <p:nvPr/>
        </p:nvSpPr>
        <p:spPr>
          <a:xfrm>
            <a:off x="7034022" y="3744468"/>
            <a:ext cx="45720" cy="1146255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45" name="Shape 43"/>
          <p:cNvSpPr/>
          <p:nvPr/>
        </p:nvSpPr>
        <p:spPr>
          <a:xfrm>
            <a:off x="6764274" y="4559637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46" name="Shape 44"/>
          <p:cNvSpPr/>
          <p:nvPr/>
        </p:nvSpPr>
        <p:spPr>
          <a:xfrm>
            <a:off x="6764274" y="4931396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47" name="Shape 45"/>
          <p:cNvSpPr/>
          <p:nvPr/>
        </p:nvSpPr>
        <p:spPr>
          <a:xfrm>
            <a:off x="6855714" y="5148255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48" name="Shape 46"/>
          <p:cNvSpPr/>
          <p:nvPr/>
        </p:nvSpPr>
        <p:spPr>
          <a:xfrm>
            <a:off x="6919722" y="4983663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49" name="Shape 47"/>
          <p:cNvSpPr/>
          <p:nvPr/>
        </p:nvSpPr>
        <p:spPr>
          <a:xfrm>
            <a:off x="7029450" y="491051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50" name="Shape 48"/>
          <p:cNvSpPr/>
          <p:nvPr/>
        </p:nvSpPr>
        <p:spPr>
          <a:xfrm>
            <a:off x="7139178" y="4965375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51" name="Shape 49"/>
          <p:cNvSpPr/>
          <p:nvPr/>
        </p:nvSpPr>
        <p:spPr>
          <a:xfrm>
            <a:off x="6992874" y="504767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52" name="Shape 50"/>
          <p:cNvSpPr/>
          <p:nvPr/>
        </p:nvSpPr>
        <p:spPr>
          <a:xfrm>
            <a:off x="7084314" y="504767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53" name="Text 51"/>
          <p:cNvSpPr/>
          <p:nvPr/>
        </p:nvSpPr>
        <p:spPr>
          <a:xfrm>
            <a:off x="6323076" y="5705856"/>
            <a:ext cx="1467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种子罐 N-1</a:t>
            </a:r>
            <a:endParaRPr lang="en-US" sz="9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845552" y="5230368"/>
            <a:ext cx="347472" cy="237744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55" name="Shape 53"/>
          <p:cNvSpPr/>
          <p:nvPr/>
        </p:nvSpPr>
        <p:spPr>
          <a:xfrm>
            <a:off x="8433054" y="3840480"/>
            <a:ext cx="1097280" cy="1609344"/>
          </a:xfrm>
          <a:prstGeom prst="roundRect">
            <a:avLst>
              <a:gd name="adj" fmla="val 6667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33054" y="5340096"/>
            <a:ext cx="1097280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78774" y="4484218"/>
            <a:ext cx="1005840" cy="910742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58" name="Shape 56"/>
          <p:cNvSpPr/>
          <p:nvPr/>
        </p:nvSpPr>
        <p:spPr>
          <a:xfrm>
            <a:off x="8958834" y="3675888"/>
            <a:ext cx="45720" cy="1190915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59" name="Shape 57"/>
          <p:cNvSpPr/>
          <p:nvPr/>
        </p:nvSpPr>
        <p:spPr>
          <a:xfrm>
            <a:off x="8689086" y="4516404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60" name="Shape 58"/>
          <p:cNvSpPr/>
          <p:nvPr/>
        </p:nvSpPr>
        <p:spPr>
          <a:xfrm>
            <a:off x="8689086" y="4902647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61" name="Shape 59"/>
          <p:cNvSpPr/>
          <p:nvPr/>
        </p:nvSpPr>
        <p:spPr>
          <a:xfrm>
            <a:off x="8780526" y="5127955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2" name="Shape 60"/>
          <p:cNvSpPr/>
          <p:nvPr/>
        </p:nvSpPr>
        <p:spPr>
          <a:xfrm>
            <a:off x="8844534" y="4963363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63" name="Shape 61"/>
          <p:cNvSpPr/>
          <p:nvPr/>
        </p:nvSpPr>
        <p:spPr>
          <a:xfrm>
            <a:off x="8954262" y="489021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64" name="Shape 62"/>
          <p:cNvSpPr/>
          <p:nvPr/>
        </p:nvSpPr>
        <p:spPr>
          <a:xfrm>
            <a:off x="9063990" y="4945075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65" name="Shape 63"/>
          <p:cNvSpPr/>
          <p:nvPr/>
        </p:nvSpPr>
        <p:spPr>
          <a:xfrm>
            <a:off x="8917686" y="502737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66" name="Shape 64"/>
          <p:cNvSpPr/>
          <p:nvPr/>
        </p:nvSpPr>
        <p:spPr>
          <a:xfrm>
            <a:off x="9009126" y="502737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67" name="Shape 65"/>
          <p:cNvSpPr/>
          <p:nvPr/>
        </p:nvSpPr>
        <p:spPr>
          <a:xfrm>
            <a:off x="8378190" y="3785616"/>
            <a:ext cx="1207008" cy="1938528"/>
          </a:xfrm>
          <a:prstGeom prst="roundRect">
            <a:avLst>
              <a:gd name="adj" fmla="val 4545"/>
            </a:avLst>
          </a:prstGeom>
          <a:ln w="25400">
            <a:solidFill>
              <a:srgbClr val="D98A1E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8247888" y="5705856"/>
            <a:ext cx="1467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生产罐 N</a:t>
            </a:r>
            <a:endParaRPr lang="en-US" sz="9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2000L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770364" y="5230368"/>
            <a:ext cx="347472" cy="237744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70" name="Shape 68"/>
          <p:cNvSpPr/>
          <p:nvPr/>
        </p:nvSpPr>
        <p:spPr>
          <a:xfrm>
            <a:off x="10453878" y="4251960"/>
            <a:ext cx="905256" cy="992124"/>
          </a:xfrm>
          <a:prstGeom prst="ellipse">
            <a:avLst/>
          </a:prstGeom>
          <a:solidFill>
            <a:srgbClr val="EFEFEF"/>
          </a:solidFill>
          <a:ln w="16510">
            <a:solidFill>
              <a:srgbClr val="5E716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172700" y="5705856"/>
            <a:ext cx="1467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</a:t>
            </a:r>
            <a:endParaRPr lang="en-US" sz="9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Harvest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48640" y="6126480"/>
            <a:ext cx="11091672" cy="310896"/>
          </a:xfrm>
          <a:prstGeom prst="rect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 Scale-up ·  ×5~10 / 级  ·  保持的是细胞看到的微环境,不是罐子等比变大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02 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914400" cy="73152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什么是工艺放大、为什么要放大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放大的对手不是体积,而是『表面积跟不上体积』——这是后面所有难题的根。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2895" y="6035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B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不是『按比例变大』,而是『让细胞看到的环境不变』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什么是工艺放大、为什么要放大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81328"/>
            <a:ext cx="54406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工艺放大的定义:在显著增大反应体积的同时,保持工艺性能与产品质量一致——活细胞密度、活率、产量与糖基化等关键质量属性不变。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核心思想:我们放大的不是『罐子』,而是要复制『细胞看到的微环境』——溶氧、pH、营养、剪切、混合时间。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三级阶梯:实验室/小试(mL~L,克隆筛选与早期开发)→ 中试 pilot(10~200 L,工艺确认与放大验证)→ 商业化(1000~5000 L+,GMP 量产)。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每跨一级体积常放大 5~10 倍;从摇瓶到商业罐总放大倍数可达上万倍,但目标始终是『性能可比』。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易错认知:很多新员工以为『小罐转速 200 rpm,大罐照搬 200 rpm 就行』——这是放大失败最常见的起点。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放大的判据不是『装得下』,而是『产品可比』——这点会在第 10 章作为最终验收标准展开。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389888"/>
            <a:ext cx="5742432" cy="3429000"/>
          </a:xfrm>
          <a:prstGeom prst="roundRect">
            <a:avLst>
              <a:gd name="adj" fmla="val 1600"/>
            </a:avLst>
          </a:prstGeom>
          <a:solidFill>
            <a:srgbClr val="F2FAF7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4768" y="2926080"/>
            <a:ext cx="1627632" cy="1618488"/>
          </a:xfrm>
          <a:prstGeom prst="roundRect">
            <a:avLst>
              <a:gd name="adj" fmla="val 3390"/>
            </a:avLst>
          </a:prstGeom>
          <a:solidFill>
            <a:srgbClr val="E6F5F0"/>
          </a:solidFill>
          <a:ln w="15240">
            <a:solidFill>
              <a:srgbClr val="CFE5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3035808"/>
            <a:ext cx="144475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 / 小试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 ~ L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克隆筛选 · 早期开发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08976" y="3616452"/>
            <a:ext cx="256032" cy="237744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34427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×5~10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092440" y="2631643"/>
            <a:ext cx="1627632" cy="1912925"/>
          </a:xfrm>
          <a:prstGeom prst="roundRect">
            <a:avLst>
              <a:gd name="adj" fmla="val 3371"/>
            </a:avLst>
          </a:prstGeom>
          <a:solidFill>
            <a:srgbClr val="E6F5F0"/>
          </a:solidFill>
          <a:ln w="15240">
            <a:solidFill>
              <a:srgbClr val="CFE5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741371"/>
            <a:ext cx="1444752" cy="173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中试 Pilot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~ 200 L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工艺确认 · 放大验证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56648" y="3469234"/>
            <a:ext cx="256032" cy="237744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20" name="Text 18"/>
          <p:cNvSpPr/>
          <p:nvPr/>
        </p:nvSpPr>
        <p:spPr>
          <a:xfrm>
            <a:off x="9628632" y="329549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×5~10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0040112" y="2350008"/>
            <a:ext cx="1627632" cy="2194560"/>
          </a:xfrm>
          <a:prstGeom prst="roundRect">
            <a:avLst>
              <a:gd name="adj" fmla="val 3371"/>
            </a:avLst>
          </a:prstGeom>
          <a:solidFill>
            <a:srgbClr val="0E7C6B"/>
          </a:solidFill>
          <a:ln w="15240">
            <a:solidFill>
              <a:srgbClr val="0E7C6B"/>
            </a:solidFill>
            <a:prstDash val="solid"/>
          </a:ln>
          <a:effectLst>
            <a:outerShdw sx="100000" sy="100000" kx="0" ky="0" algn="bl" rotWithShape="0" blurRad="88900" dist="38100" dir="8100000">
              <a:srgbClr val="0A453B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131552" y="2459736"/>
            <a:ext cx="14447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AFB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 ~ 5000 L+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8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GMP 量产供货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44768" y="1463040"/>
            <a:ext cx="5522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目标不变:细胞看到的微环境一致 → 产品可比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4476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25" name="Shape 23"/>
          <p:cNvSpPr/>
          <p:nvPr/>
        </p:nvSpPr>
        <p:spPr>
          <a:xfrm>
            <a:off x="614476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实验室/小试:mL ~ L(摇瓶 / 微型反应器 / 1~5 L 玻璃罐)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97940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28" name="Shape 26"/>
          <p:cNvSpPr/>
          <p:nvPr/>
        </p:nvSpPr>
        <p:spPr>
          <a:xfrm>
            <a:off x="897940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29" name="Text 27"/>
          <p:cNvSpPr/>
          <p:nvPr/>
        </p:nvSpPr>
        <p:spPr>
          <a:xfrm>
            <a:off x="910742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中试 pilot:约 10 ~ 200 L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14476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476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2" name="Text 30"/>
          <p:cNvSpPr/>
          <p:nvPr/>
        </p:nvSpPr>
        <p:spPr>
          <a:xfrm>
            <a:off x="627278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商业化:约 1000 ~ 5000 L+(一次性 SUB 常见单批 2000 L)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897940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34" name="Shape 32"/>
          <p:cNvSpPr/>
          <p:nvPr/>
        </p:nvSpPr>
        <p:spPr>
          <a:xfrm>
            <a:off x="897940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5" name="Text 33"/>
          <p:cNvSpPr/>
          <p:nvPr/>
        </p:nvSpPr>
        <p:spPr>
          <a:xfrm>
            <a:off x="910742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单级放大 5~10×;摇瓶→商业罐总倍数可达 10000×+</a:t>
            </a:r>
            <a:endParaRPr lang="en-US" sz="8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为什么要放大,以及难在哪:r³ 与 r² 的矛盾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什么是工艺放大、为什么要放大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81328"/>
            <a:ext cx="54406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为什么放大:①产能——研发批量太小,喂不饱临床与商业供货;②商业供货——单抗药年需求常以公斤计,必须大罐量产;③成本与时间——大罐摊薄单位成本、缩短交付。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scale-up 与 scale-down 的关系:不是『在大罐上反复试错』(一炉成本极高),而是先用小尺度模型在实验室模拟大罐的微环境,把工艺开发表征做透,再放上去。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scale-down model = 大罐的『代言人』:用几百 mL 到几 L 的小反应器,刻意复现大罐的溶氧、CO₂、混合不均、pH 梯度等『不舒服』条件,让小罐替大罐受罪。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核心难题:体积按半径三次方(r³)增长,而散热与传氧靠的表面积只按二次方(r²)增长——罐越大,『单位体积可用的表面』越少。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后果链:表面积相对变小 → 传质(供氧)、传热(散热)、混合都变慢变难 → 这就是大罐和小罐『物理上不一样』。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记住一句:放大真正的对手不是『体积』,而是『表面积跟不上体积』——第 5 章用工程量把它算清楚。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389888"/>
            <a:ext cx="5742432" cy="3429000"/>
          </a:xfrm>
          <a:prstGeom prst="roundRect">
            <a:avLst>
              <a:gd name="adj" fmla="val 1600"/>
            </a:avLst>
          </a:prstGeom>
          <a:solidFill>
            <a:srgbClr val="F2FAF7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1481328"/>
            <a:ext cx="5522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 V∝r³ 涨得快,表面积 A∝r² 跟不上 → 比表面积 A/V∝1/r 下降</a:t>
            </a:r>
            <a:endParaRPr lang="en-US" sz="9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236208" y="1810512"/>
          <a:ext cx="5340096" cy="28254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614476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16" name="Shape 13"/>
          <p:cNvSpPr/>
          <p:nvPr/>
        </p:nvSpPr>
        <p:spPr>
          <a:xfrm>
            <a:off x="614476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7" name="Text 14"/>
          <p:cNvSpPr/>
          <p:nvPr/>
        </p:nvSpPr>
        <p:spPr>
          <a:xfrm>
            <a:off x="627278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比表面积 A/V ∝ r²/r³ = 1/r —— 罐越大单位体积可用表面越少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897940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19" name="Shape 16"/>
          <p:cNvSpPr/>
          <p:nvPr/>
        </p:nvSpPr>
        <p:spPr>
          <a:xfrm>
            <a:off x="897940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20" name="Text 17"/>
          <p:cNvSpPr/>
          <p:nvPr/>
        </p:nvSpPr>
        <p:spPr>
          <a:xfrm>
            <a:off x="910742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 V ∝ r³;表面积 A ∝ r²(几何相似放大)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614476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22" name="Shape 19"/>
          <p:cNvSpPr/>
          <p:nvPr/>
        </p:nvSpPr>
        <p:spPr>
          <a:xfrm>
            <a:off x="614476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23" name="Text 20"/>
          <p:cNvSpPr/>
          <p:nvPr/>
        </p:nvSpPr>
        <p:spPr>
          <a:xfrm>
            <a:off x="627278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工程量预告:P/V、kLa(1/h)、tip speed = π·N·D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897940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25" name="Shape 22"/>
          <p:cNvSpPr/>
          <p:nvPr/>
        </p:nvSpPr>
        <p:spPr>
          <a:xfrm>
            <a:off x="897940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26" name="Text 23"/>
          <p:cNvSpPr/>
          <p:nvPr/>
        </p:nvSpPr>
        <p:spPr>
          <a:xfrm>
            <a:off x="910742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scale-down 模型典型体积:约 0.25 ~ 5 L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03 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914400" cy="73152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生物反应器类型与结构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认识你将操作的硬件:STR 管大规模、SUB 管灵活换型、WAVE 管温和前段。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2895" y="6035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B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三类主流生物反应器:你将操作的硬件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生物反应器类型与结构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不锈钢搅拌罐 STR:行业主力机型,规模可做到很大、可反复使用,但每批必须做 CIP(在线清洗)/ SIP(在线灭菌),换型慢、清洗验证负担重。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一次性生物反应器 SUB:核心是一只预灭菌的一次性塑料袋体,用完即弃,免清洗免灭菌、换型快,是 CMO 多产品厂房的主流;规模上限受袋体限制(目前约 2000 L 级)。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摇摆式 WAVE:靠托盘前后摇摆让液面起波来混合通气,剪切温和、无机械桨叶,最适合细胞最娇嫩的种子扩增前段(通常 1~25 L 级)。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一句话记忆:WAVE 管『前段小规模、要温和』,SUB 管『中等规模、要灵活换型』,STR 管『大规模生产、要做到最大体积』。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三者不是互相替代,而是沿种子链从小到大接力——下一章会讲为什么放大要逐级走,不能一步到位。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3392424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26080"/>
            <a:ext cx="3392424" cy="82296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72384"/>
            <a:ext cx="3392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WAVE 摇摆式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~ 25 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41932" y="4800600"/>
            <a:ext cx="1005840" cy="164592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17" name="Shape 15"/>
          <p:cNvSpPr/>
          <p:nvPr/>
        </p:nvSpPr>
        <p:spPr>
          <a:xfrm>
            <a:off x="1833372" y="416052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CDEBE2"/>
          </a:solidFill>
          <a:ln w="16510">
            <a:solidFill>
              <a:srgbClr val="0E7C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41932" y="5029200"/>
            <a:ext cx="1005840" cy="0"/>
          </a:xfrm>
          <a:prstGeom prst="line">
            <a:avLst/>
          </a:prstGeom>
          <a:noFill/>
          <a:ln w="25400">
            <a:solidFill>
              <a:srgbClr val="17A98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58368" y="516636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摇摆混合 · 无桨叶 · 温和</a:t>
            </a:r>
            <a:endParaRPr lang="en-US" sz="9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种子扩增前段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98264" y="2926080"/>
            <a:ext cx="3392424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98264" y="2926080"/>
            <a:ext cx="3392424" cy="82296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2" name="Text 20"/>
          <p:cNvSpPr/>
          <p:nvPr/>
        </p:nvSpPr>
        <p:spPr>
          <a:xfrm>
            <a:off x="4398264" y="3072384"/>
            <a:ext cx="3392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 一次性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~ 2000 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82996" y="3794760"/>
            <a:ext cx="822960" cy="1097280"/>
          </a:xfrm>
          <a:prstGeom prst="rect">
            <a:avLst/>
          </a:prstGeom>
          <a:solidFill>
            <a:srgbClr val="EFEFEF"/>
          </a:solidFill>
          <a:ln w="16510">
            <a:solidFill>
              <a:srgbClr val="5E71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92724" y="3904488"/>
            <a:ext cx="603504" cy="896112"/>
          </a:xfrm>
          <a:prstGeom prst="roundRect">
            <a:avLst>
              <a:gd name="adj" fmla="val 7576"/>
            </a:avLst>
          </a:prstGeom>
          <a:solidFill>
            <a:srgbClr val="CDEBE2"/>
          </a:solidFill>
          <a:ln w="15240">
            <a:solidFill>
              <a:srgbClr val="0E7C6B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507992" y="516636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一次性袋体 · 免清洗</a:t>
            </a:r>
            <a:endParaRPr lang="en-US" sz="9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换型快 · CMO 主流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47888" y="2926080"/>
            <a:ext cx="3392424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47888" y="2926080"/>
            <a:ext cx="3392424" cy="82296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8" name="Text 26"/>
          <p:cNvSpPr/>
          <p:nvPr/>
        </p:nvSpPr>
        <p:spPr>
          <a:xfrm>
            <a:off x="8247888" y="3072384"/>
            <a:ext cx="3392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 不锈钢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 ~ 20000+ 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441180" y="3794760"/>
            <a:ext cx="1005840" cy="1126541"/>
          </a:xfrm>
          <a:prstGeom prst="roundRect">
            <a:avLst>
              <a:gd name="adj" fmla="val 7273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41180" y="4811573"/>
            <a:ext cx="1005840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86900" y="4222846"/>
            <a:ext cx="914400" cy="643591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32" name="Shape 30"/>
          <p:cNvSpPr/>
          <p:nvPr/>
        </p:nvSpPr>
        <p:spPr>
          <a:xfrm>
            <a:off x="9921240" y="3630168"/>
            <a:ext cx="45720" cy="833640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33" name="Shape 31"/>
          <p:cNvSpPr/>
          <p:nvPr/>
        </p:nvSpPr>
        <p:spPr>
          <a:xfrm>
            <a:off x="9651492" y="4267907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4" name="Shape 32"/>
          <p:cNvSpPr/>
          <p:nvPr/>
        </p:nvSpPr>
        <p:spPr>
          <a:xfrm>
            <a:off x="9651492" y="4538277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5" name="Shape 33"/>
          <p:cNvSpPr/>
          <p:nvPr/>
        </p:nvSpPr>
        <p:spPr>
          <a:xfrm>
            <a:off x="9742932" y="4695993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6" name="Shape 34"/>
          <p:cNvSpPr/>
          <p:nvPr/>
        </p:nvSpPr>
        <p:spPr>
          <a:xfrm>
            <a:off x="9806940" y="453140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7" name="Shape 35"/>
          <p:cNvSpPr/>
          <p:nvPr/>
        </p:nvSpPr>
        <p:spPr>
          <a:xfrm>
            <a:off x="9916668" y="445824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8" name="Shape 36"/>
          <p:cNvSpPr/>
          <p:nvPr/>
        </p:nvSpPr>
        <p:spPr>
          <a:xfrm>
            <a:off x="10026396" y="4513113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9" name="Shape 37"/>
          <p:cNvSpPr/>
          <p:nvPr/>
        </p:nvSpPr>
        <p:spPr>
          <a:xfrm>
            <a:off x="9880092" y="459540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40" name="Shape 38"/>
          <p:cNvSpPr/>
          <p:nvPr/>
        </p:nvSpPr>
        <p:spPr>
          <a:xfrm>
            <a:off x="9971532" y="459540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41" name="Text 39"/>
          <p:cNvSpPr/>
          <p:nvPr/>
        </p:nvSpPr>
        <p:spPr>
          <a:xfrm>
            <a:off x="8357616" y="516636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可重复 · 需 CIP/SIP</a:t>
            </a:r>
            <a:endParaRPr lang="en-US" sz="9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大规模生产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57607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种子链方向:小 ──────────────→ 大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核心部件与选型权衡:STR vs SUB 怎么选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生物反应器类型与结构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核心部件四件套:①搅拌系统——桨叶 impeller,负责混匀与让细胞悬浮;②通气系统——分布器 sparger,把空气/O₂/CO₂/氮气打成气泡供氧、调 pH;③换热系统——夹套或盘管控温;④检测探头——温度/pH/DO/液位,是控制系统的『眼睛』。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桨叶要点:搅拌不是越快越好。tip speed = π·N·D,转速越高、桨叶越大,叶尖线速度越快,混合越好但剪切伤害也越大——这正是大罐小罐『物理上不一样』的关键之一。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 取舍:规模上限高、单位成本低、适合长期大批量同一产品;代价是 CIP/SIP 耗时耗水、换型慢,多产品共用存在交叉污染风险。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 取舍:免清洗免灭菌、换型快、批间无残留、交叉污染风险极低,契合 CMO 频繁换产品;代价是规模受袋体限制、耗材成本更高、有塑料废弃物。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选型一句话:『一个产品、大体量、长期跑』偏向 STR;『多产品、勤换型、要灵活』偏向 SUB——这也是药明大量采用一次性技术的核心原因。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1005840" y="3108960"/>
            <a:ext cx="1554480" cy="2414016"/>
          </a:xfrm>
          <a:prstGeom prst="roundRect">
            <a:avLst>
              <a:gd name="adj" fmla="val 4706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5413248"/>
            <a:ext cx="1554480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026286"/>
            <a:ext cx="1463040" cy="1441826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16" name="Shape 14"/>
          <p:cNvSpPr/>
          <p:nvPr/>
        </p:nvSpPr>
        <p:spPr>
          <a:xfrm>
            <a:off x="1760220" y="2944368"/>
            <a:ext cx="45720" cy="1786372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17" name="Shape 15"/>
          <p:cNvSpPr/>
          <p:nvPr/>
        </p:nvSpPr>
        <p:spPr>
          <a:xfrm>
            <a:off x="1490472" y="4122847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8" name="Shape 16"/>
          <p:cNvSpPr/>
          <p:nvPr/>
        </p:nvSpPr>
        <p:spPr>
          <a:xfrm>
            <a:off x="1490472" y="4702211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9" name="Shape 17"/>
          <p:cNvSpPr/>
          <p:nvPr/>
        </p:nvSpPr>
        <p:spPr>
          <a:xfrm>
            <a:off x="1581912" y="5040173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0" name="Shape 18"/>
          <p:cNvSpPr/>
          <p:nvPr/>
        </p:nvSpPr>
        <p:spPr>
          <a:xfrm>
            <a:off x="1645920" y="487558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1" name="Shape 19"/>
          <p:cNvSpPr/>
          <p:nvPr/>
        </p:nvSpPr>
        <p:spPr>
          <a:xfrm>
            <a:off x="1755648" y="480242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2" name="Shape 20"/>
          <p:cNvSpPr/>
          <p:nvPr/>
        </p:nvSpPr>
        <p:spPr>
          <a:xfrm>
            <a:off x="1865376" y="4857293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3" name="Shape 21"/>
          <p:cNvSpPr/>
          <p:nvPr/>
        </p:nvSpPr>
        <p:spPr>
          <a:xfrm>
            <a:off x="1719072" y="493958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4" name="Shape 22"/>
          <p:cNvSpPr/>
          <p:nvPr/>
        </p:nvSpPr>
        <p:spPr>
          <a:xfrm>
            <a:off x="1810512" y="493958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760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tip speed = π·N·D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四件套:①搅拌 ②通气 ③换热 ④探头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2926080"/>
          <a:ext cx="83484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05556"/>
                <a:gridCol w="330555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 不锈钢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SUB 一次性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规模上限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高(可做很大)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2000 L / 单袋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换型速度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慢(需清洗验证)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快(换袋即可)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清洗灭菌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每批 CIP / SIP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免清洗免灭菌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交叉污染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共线需严格验证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批间几乎为零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单产品 · 大体量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多产品 · 勤换型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04 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914400" cy="73152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关键工艺参数 CPP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六大参数控的是『细胞舒服的窗口』,控参数的本质是控质量(CQA)。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2895" y="6035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B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六大关键工艺参数:温度 / pH / 溶氧 / 搅拌通气 / 补料 / CO₂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关键工艺参数 CPP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关键工艺参数(CPP)= 一旦偏离就会显著影响细胞生长、产量或质量的『必须控、必须监』参数;不是越高越好,而是稳在『细胞舒服』的窗口里。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温度:CHO 典型 36~37°C;生产期常主动降温到 30~33°C(temperature shift),用减慢代谢换更长产期和更高产量。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pH:CHO 典型 6.8~7.2,双向调节——偏酸加碱液,偏碱通 CO₂;是少数能往两个方向调的参数。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溶氧 DO:典型设定 30~50% 空气饱和度;是细胞的『呼吸供给』,低了缺氧、过高也可能氧化应激。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搅拌(rpm)与通气(vvm):共同决定供氧能力,但都带来剪切,是典型『又要又不要』的平衡参数,放大时最难照搬。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补料与 CO₂:补料决定营养供给节奏(fed-batch/perfusion);CO₂ 是代谢副产物,累积过高抑制生长,需通气吹脱(stripping)排出。</a:t>
            </a:r>
            <a:endParaRPr lang="en-US" sz="103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2377440"/>
                <a:gridCol w="21945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典型范围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控什么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温度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36~37℃(产期降 30~33)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代谢速率 / 产期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夹套循环水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6.8~7.2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酶活 / 代谢环境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CO₂↓ 与碱液↑ 双向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溶氧 DO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30~50% 空气饱和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细胞呼吸供氧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搅拌 rpm + 通气 vvm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搅拌+通气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过程参数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供氧 vs 剪切平衡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 rpm 与 vvm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补料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fed-batch / perfusion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营养供给节奏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按曲线补浓缩料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CO₂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100~150 mmHg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代谢副产物排出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通气吹脱 stripping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9601200" y="3108960"/>
            <a:ext cx="1463040" cy="2494483"/>
          </a:xfrm>
          <a:prstGeom prst="roundRect">
            <a:avLst>
              <a:gd name="adj" fmla="val 5000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01200" y="5493715"/>
            <a:ext cx="1463040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46920" y="4106753"/>
            <a:ext cx="1371600" cy="1441826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17" name="Shape 14"/>
          <p:cNvSpPr/>
          <p:nvPr/>
        </p:nvSpPr>
        <p:spPr>
          <a:xfrm>
            <a:off x="10309860" y="2944368"/>
            <a:ext cx="45720" cy="1845918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18" name="Shape 15"/>
          <p:cNvSpPr/>
          <p:nvPr/>
        </p:nvSpPr>
        <p:spPr>
          <a:xfrm>
            <a:off x="10040112" y="4156643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9" name="Shape 16"/>
          <p:cNvSpPr/>
          <p:nvPr/>
        </p:nvSpPr>
        <p:spPr>
          <a:xfrm>
            <a:off x="10040112" y="4755319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20" name="Shape 17"/>
          <p:cNvSpPr/>
          <p:nvPr/>
        </p:nvSpPr>
        <p:spPr>
          <a:xfrm>
            <a:off x="10131552" y="5104547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1" name="Shape 18"/>
          <p:cNvSpPr/>
          <p:nvPr/>
        </p:nvSpPr>
        <p:spPr>
          <a:xfrm>
            <a:off x="10195560" y="4939955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2" name="Shape 19"/>
          <p:cNvSpPr/>
          <p:nvPr/>
        </p:nvSpPr>
        <p:spPr>
          <a:xfrm>
            <a:off x="10305288" y="4866803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3" name="Shape 20"/>
          <p:cNvSpPr/>
          <p:nvPr/>
        </p:nvSpPr>
        <p:spPr>
          <a:xfrm>
            <a:off x="10415016" y="4921667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4" name="Shape 21"/>
          <p:cNvSpPr/>
          <p:nvPr/>
        </p:nvSpPr>
        <p:spPr>
          <a:xfrm>
            <a:off x="10268712" y="5003963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5" name="Shape 22"/>
          <p:cNvSpPr/>
          <p:nvPr/>
        </p:nvSpPr>
        <p:spPr>
          <a:xfrm>
            <a:off x="10360152" y="5003963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6" name="Text 23"/>
          <p:cNvSpPr/>
          <p:nvPr/>
        </p:nvSpPr>
        <p:spPr>
          <a:xfrm>
            <a:off x="9235440" y="5833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所有参数都发生在同一个罐里、彼此联动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供氧、剪切与补料的平衡 —— 以及 CPP 如何连到 CQA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关键工艺参数 CPP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81328"/>
            <a:ext cx="54406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供氧三角难题:DO 要靠搅拌+通气供上去,但搅拌带来剪切、气泡破裂同样伤细胞——在『供氧够不够』和『剪切大不大』之间走钢丝,这正是放大最容易翻车处。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搅拌的剪切看叶尖线速度:tip speed = π·N·D;放大后直径 D 变大,转速 N 哪怕调小,叶尖速度也容易超标——这就是『大罐不能照搬小罐转速』的直接原因。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供氧能力用 kLa 衡量:OTR = kLa·(C*−C_L);kLa 越大供氧越强,由搅拌、通气和罐型共同决定,是放大必须对齐的核心指标。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补料策略:fed-batch 为主流——基础培养基打底,按曲线补浓缩营养,把养分稳在不饿也不撑;perfusion 持续进新料、出废液并留住细胞,可做到更高细胞密度。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CO₂ 是放大的隐形杀手:大罐液柱高、气液接触变差,代谢 CO₂ 不易吹脱而累积,过高会压低 pH 并抑制细胞——小罐没这个问题。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CPP 最终服务于 CQA:温度、pH、DO、CO₂ 的波动会传导到糖基化、电荷异构体、聚体等产品质量上——『控参数』本质是『控质量』,这是 QbD 的起点。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389888"/>
            <a:ext cx="5742432" cy="3429000"/>
          </a:xfrm>
          <a:prstGeom prst="roundRect">
            <a:avLst>
              <a:gd name="adj" fmla="val 1600"/>
            </a:avLst>
          </a:prstGeom>
          <a:solidFill>
            <a:srgbClr val="F2FAF7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61848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E6F5F0"/>
          </a:solidFill>
          <a:ln w="12700">
            <a:solidFill>
              <a:srgbClr val="0E7C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供氧充足 (DO 达标)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98864" y="161848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8E4E1"/>
          </a:solidFill>
          <a:ln w="12700">
            <a:solidFill>
              <a:srgbClr val="C039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剪切过大 (细胞受损)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50608" y="2212848"/>
            <a:ext cx="351129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6" name="Shape 14"/>
          <p:cNvSpPr/>
          <p:nvPr/>
        </p:nvSpPr>
        <p:spPr>
          <a:xfrm>
            <a:off x="8705088" y="2267712"/>
            <a:ext cx="402336" cy="310896"/>
          </a:xfrm>
          <a:prstGeom prst="triangle">
            <a:avLst/>
          </a:prstGeom>
          <a:solidFill>
            <a:srgbClr val="0E7C6B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2651760"/>
            <a:ext cx="5522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放大时要重新平衡:tip speed = π·N·D   |   OTR = kLa·(C*−C_L)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90488" y="3035808"/>
            <a:ext cx="1124712" cy="868680"/>
          </a:xfrm>
          <a:prstGeom prst="roundRect">
            <a:avLst>
              <a:gd name="adj" fmla="val 7368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3035808"/>
            <a:ext cx="941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CPP 波动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温度/pH/DO/CO₂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33488" y="3323844"/>
            <a:ext cx="274320" cy="292608"/>
          </a:xfrm>
          <a:prstGeom prst="chevron">
            <a:avLst/>
          </a:prstGeom>
          <a:solidFill>
            <a:srgbClr val="0E7C6B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6096" y="3035808"/>
            <a:ext cx="1124712" cy="868680"/>
          </a:xfrm>
          <a:prstGeom prst="roundRect">
            <a:avLst>
              <a:gd name="adj" fmla="val 7368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17536" y="3035808"/>
            <a:ext cx="941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代谢改变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微环境漂移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769096" y="3323844"/>
            <a:ext cx="274320" cy="292608"/>
          </a:xfrm>
          <a:prstGeom prst="chevron">
            <a:avLst/>
          </a:prstGeom>
          <a:solidFill>
            <a:srgbClr val="0E7C6B"/>
          </a:solidFill>
          <a:ln/>
        </p:spPr>
      </p:sp>
      <p:sp>
        <p:nvSpPr>
          <p:cNvPr id="24" name="Shape 22"/>
          <p:cNvSpPr/>
          <p:nvPr/>
        </p:nvSpPr>
        <p:spPr>
          <a:xfrm>
            <a:off x="9061704" y="3035808"/>
            <a:ext cx="1124712" cy="868680"/>
          </a:xfrm>
          <a:prstGeom prst="roundRect">
            <a:avLst>
              <a:gd name="adj" fmla="val 7368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53144" y="3035808"/>
            <a:ext cx="941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CQA 变化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糖基化/聚体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204704" y="3323844"/>
            <a:ext cx="274320" cy="292608"/>
          </a:xfrm>
          <a:prstGeom prst="chevron">
            <a:avLst/>
          </a:prstGeom>
          <a:solidFill>
            <a:srgbClr val="0E7C6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97312" y="3035808"/>
            <a:ext cx="1124712" cy="868680"/>
          </a:xfrm>
          <a:prstGeom prst="roundRect">
            <a:avLst>
              <a:gd name="adj" fmla="val 7368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88752" y="3035808"/>
            <a:ext cx="941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产品质量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第9章 QbD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4476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30" name="Shape 28"/>
          <p:cNvSpPr/>
          <p:nvPr/>
        </p:nvSpPr>
        <p:spPr>
          <a:xfrm>
            <a:off x="614476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1" name="Text 29"/>
          <p:cNvSpPr/>
          <p:nvPr/>
        </p:nvSpPr>
        <p:spPr>
          <a:xfrm>
            <a:off x="627278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tip speed = π·N·D;CHO 经验上限约 1.5~2.5 m/s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897940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33" name="Shape 31"/>
          <p:cNvSpPr/>
          <p:nvPr/>
        </p:nvSpPr>
        <p:spPr>
          <a:xfrm>
            <a:off x="897940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4" name="Text 32"/>
          <p:cNvSpPr/>
          <p:nvPr/>
        </p:nvSpPr>
        <p:spPr>
          <a:xfrm>
            <a:off x="910742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OTR = kLa·(C*−C_L)(C*=饱和氧, C_L=液相实际氧)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14476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36" name="Shape 34"/>
          <p:cNvSpPr/>
          <p:nvPr/>
        </p:nvSpPr>
        <p:spPr>
          <a:xfrm>
            <a:off x="614476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7" name="Text 35"/>
          <p:cNvSpPr/>
          <p:nvPr/>
        </p:nvSpPr>
        <p:spPr>
          <a:xfrm>
            <a:off x="627278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fed-batch:补浓缩料;perfusion:换液留细胞, VCD 更高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897940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39" name="Shape 37"/>
          <p:cNvSpPr/>
          <p:nvPr/>
        </p:nvSpPr>
        <p:spPr>
          <a:xfrm>
            <a:off x="897940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40" name="Text 38"/>
          <p:cNvSpPr/>
          <p:nvPr/>
        </p:nvSpPr>
        <p:spPr>
          <a:xfrm>
            <a:off x="910742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CPP→CQA:参数波动 → 代谢改变 → 糖基化/聚体变化</a:t>
            </a:r>
            <a:endParaRPr lang="en-US" sz="8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05 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914400" cy="73152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放大的工程原理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P/V、kLa、tip speed、混合时间把『大罐为什么不一样』算清楚。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2895" y="6035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B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几何相似与尺度效应:为什么大罐 ≠ 小罐放大版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放大的工程原理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放大的第一步是『几何相似』:保持反应器关键比例不变,让大小罐『长得一样』。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核心比例有三个:高径比 H/D、桨径罐径比 Di/T、桨叶离底高度比。CHO STR 常用 H/D ≈ 1.5~2、Di/T ≈ 0.3~0.5。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致命陷阱:几何相似只保证『形状一样』,不保证『细胞看到的环境一样』。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原因在于尺度变化是非线性的:体积按 D³ 涨(线性尺寸增 2 倍,体积涨 8 倍),而表面积只按 D² 涨。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结果是大罐『单位体积的换热面、气液接触面、混合能力』天然变差——这就是所有放大难题的根。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记住一句:放大改变的不是形状,而是物理量之间的平衡关系。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1097280" y="4206240"/>
            <a:ext cx="1097280" cy="1367942"/>
          </a:xfrm>
          <a:prstGeom prst="roundRect">
            <a:avLst>
              <a:gd name="adj" fmla="val 6667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5464454"/>
            <a:ext cx="1097280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4726058"/>
            <a:ext cx="1005840" cy="793260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16" name="Shape 14"/>
          <p:cNvSpPr/>
          <p:nvPr/>
        </p:nvSpPr>
        <p:spPr>
          <a:xfrm>
            <a:off x="1623060" y="4041648"/>
            <a:ext cx="45720" cy="1012277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17" name="Shape 15"/>
          <p:cNvSpPr/>
          <p:nvPr/>
        </p:nvSpPr>
        <p:spPr>
          <a:xfrm>
            <a:off x="1353312" y="4780776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8" name="Shape 16"/>
          <p:cNvSpPr/>
          <p:nvPr/>
        </p:nvSpPr>
        <p:spPr>
          <a:xfrm>
            <a:off x="1353312" y="5109082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4752" y="5300594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0" name="Shape 18"/>
          <p:cNvSpPr/>
          <p:nvPr/>
        </p:nvSpPr>
        <p:spPr>
          <a:xfrm>
            <a:off x="1508760" y="5136002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1" name="Shape 19"/>
          <p:cNvSpPr/>
          <p:nvPr/>
        </p:nvSpPr>
        <p:spPr>
          <a:xfrm>
            <a:off x="1618488" y="5062850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2" name="Shape 20"/>
          <p:cNvSpPr/>
          <p:nvPr/>
        </p:nvSpPr>
        <p:spPr>
          <a:xfrm>
            <a:off x="1728216" y="5117714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3" name="Shape 21"/>
          <p:cNvSpPr/>
          <p:nvPr/>
        </p:nvSpPr>
        <p:spPr>
          <a:xfrm>
            <a:off x="1581912" y="5200010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4" name="Shape 22"/>
          <p:cNvSpPr/>
          <p:nvPr/>
        </p:nvSpPr>
        <p:spPr>
          <a:xfrm>
            <a:off x="1673352" y="5200010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3200400"/>
            <a:ext cx="1828800" cy="2253082"/>
          </a:xfrm>
          <a:prstGeom prst="roundRect">
            <a:avLst>
              <a:gd name="adj" fmla="val 4000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5343754"/>
            <a:ext cx="1828800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4056571"/>
            <a:ext cx="1737360" cy="1342047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28" name="Shape 26"/>
          <p:cNvSpPr/>
          <p:nvPr/>
        </p:nvSpPr>
        <p:spPr>
          <a:xfrm>
            <a:off x="4091940" y="3035808"/>
            <a:ext cx="45720" cy="1667280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29" name="Shape 27"/>
          <p:cNvSpPr/>
          <p:nvPr/>
        </p:nvSpPr>
        <p:spPr>
          <a:xfrm>
            <a:off x="3822192" y="4146694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0" name="Shape 28"/>
          <p:cNvSpPr/>
          <p:nvPr/>
        </p:nvSpPr>
        <p:spPr>
          <a:xfrm>
            <a:off x="3822192" y="4687434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1" name="Shape 29"/>
          <p:cNvSpPr/>
          <p:nvPr/>
        </p:nvSpPr>
        <p:spPr>
          <a:xfrm>
            <a:off x="3913632" y="5002865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2" name="Shape 30"/>
          <p:cNvSpPr/>
          <p:nvPr/>
        </p:nvSpPr>
        <p:spPr>
          <a:xfrm>
            <a:off x="3977640" y="4838273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3" name="Shape 31"/>
          <p:cNvSpPr/>
          <p:nvPr/>
        </p:nvSpPr>
        <p:spPr>
          <a:xfrm>
            <a:off x="4087368" y="476512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4" name="Shape 32"/>
          <p:cNvSpPr/>
          <p:nvPr/>
        </p:nvSpPr>
        <p:spPr>
          <a:xfrm>
            <a:off x="4197096" y="4819985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5" name="Shape 33"/>
          <p:cNvSpPr/>
          <p:nvPr/>
        </p:nvSpPr>
        <p:spPr>
          <a:xfrm>
            <a:off x="4050792" y="490228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6" name="Shape 34"/>
          <p:cNvSpPr/>
          <p:nvPr/>
        </p:nvSpPr>
        <p:spPr>
          <a:xfrm>
            <a:off x="4142232" y="490228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5806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 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31720" y="4361688"/>
            <a:ext cx="640080" cy="237744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3383280"/>
            <a:ext cx="6336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保持几何相似: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H/D ≈ 1.5~2,Di/T ≈ 0.3~0.5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 V ∝ D³,表面积 A ∝ D²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线性×2 → 体积×8、面积×4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比表面积 A/V ÷2(换热/传质天然变差)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四个支配放大的工程量:P/V、kLa、tip speed、混合时间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放大的工程原理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81328"/>
            <a:ext cx="54406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放大时真正要盯的不是体积,而是这四个工程量——它们决定细胞的微环境。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单位体积功率 P/V:搅拌往液体里灌多少能量。P/V = Np·ρ·N³·Di⁵/V,决定混合、剪切与气泡破碎,CHO 常控 10~50 W/m³(远低于微生物发酵的几百~上千)。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氧传质系数 kLa:把氧从气泡送进液体的能力(1/h)。OTR = kLa·(C*−C_L),大罐液柱深、气泡停留与界面变化,kLa 是放大成败关键。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桨叶端速 tip speed = π·N·Di:桨叶最外缘线速度,表征局部最大剪切。CHO 通常控在 1~2 m/s 以内护细胞。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混合时间:把整罐浓度/pH/温度拌匀所需时间。罐越大混合越慢,从几秒变几十秒甚至更久。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Np(功率数)由桨型与流型决定,是连接转速和功率的桥梁——同样转速,桨型不同灌入的能量差很多。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389888"/>
            <a:ext cx="5742432" cy="3429000"/>
          </a:xfrm>
          <a:prstGeom prst="roundRect">
            <a:avLst>
              <a:gd name="adj" fmla="val 1600"/>
            </a:avLst>
          </a:prstGeom>
          <a:solidFill>
            <a:srgbClr val="F2FAF7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0488" y="1481328"/>
            <a:ext cx="2615184" cy="1540764"/>
          </a:xfrm>
          <a:prstGeom prst="roundRect">
            <a:avLst>
              <a:gd name="adj" fmla="val 4748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0488" y="1481328"/>
            <a:ext cx="2615184" cy="82296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73368" y="1682496"/>
            <a:ext cx="384048" cy="384048"/>
          </a:xfrm>
          <a:prstGeom prst="ellipse">
            <a:avLst/>
          </a:prstGeom>
          <a:solidFill>
            <a:srgbClr val="E6F5F0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P/V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48856" y="164592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单位体积功率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1656" y="2194560"/>
            <a:ext cx="2212848" cy="717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P/V = Np·ρ·N³·Di⁵ / V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控:混合/剪切/气泡破碎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 10~50 W/m³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1481328"/>
            <a:ext cx="2615184" cy="1540764"/>
          </a:xfrm>
          <a:prstGeom prst="roundRect">
            <a:avLst>
              <a:gd name="adj" fmla="val 4748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840" y="1481328"/>
            <a:ext cx="2615184" cy="82296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1" name="Shape 19"/>
          <p:cNvSpPr/>
          <p:nvPr/>
        </p:nvSpPr>
        <p:spPr>
          <a:xfrm>
            <a:off x="9189720" y="1682496"/>
            <a:ext cx="384048" cy="384048"/>
          </a:xfrm>
          <a:prstGeom prst="ellipse">
            <a:avLst/>
          </a:prstGeom>
          <a:solidFill>
            <a:srgbClr val="E6F5F0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kLa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65208" y="164592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氧传质系数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08008" y="2194560"/>
            <a:ext cx="2212848" cy="717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OTR = kLa·(C*−C_L)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控:供氧能力(1/h)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大罐 kLa 难做高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90488" y="3186684"/>
            <a:ext cx="2615184" cy="1540764"/>
          </a:xfrm>
          <a:prstGeom prst="roundRect">
            <a:avLst>
              <a:gd name="adj" fmla="val 4748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0488" y="3186684"/>
            <a:ext cx="2615184" cy="82296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73368" y="3387852"/>
            <a:ext cx="384048" cy="384048"/>
          </a:xfrm>
          <a:prstGeom prst="ellipse">
            <a:avLst/>
          </a:prstGeom>
          <a:solidFill>
            <a:srgbClr val="E6F5F0"/>
          </a:solidFill>
          <a:ln/>
        </p:spPr>
      </p:sp>
      <p:sp>
        <p:nvSpPr>
          <p:cNvPr id="28" name="Text 26"/>
          <p:cNvSpPr/>
          <p:nvPr/>
        </p:nvSpPr>
        <p:spPr>
          <a:xfrm>
            <a:off x="6373368" y="3387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48856" y="335127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桨叶端速 tip speed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91656" y="3899916"/>
            <a:ext cx="2212848" cy="717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tip speed = π·N·Di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控:局部最大剪切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 &lt; 2 m/s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06840" y="3186684"/>
            <a:ext cx="2615184" cy="1540764"/>
          </a:xfrm>
          <a:prstGeom prst="roundRect">
            <a:avLst>
              <a:gd name="adj" fmla="val 4748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06840" y="3186684"/>
            <a:ext cx="2615184" cy="82296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3" name="Shape 31"/>
          <p:cNvSpPr/>
          <p:nvPr/>
        </p:nvSpPr>
        <p:spPr>
          <a:xfrm>
            <a:off x="9189720" y="3387852"/>
            <a:ext cx="384048" cy="384048"/>
          </a:xfrm>
          <a:prstGeom prst="ellipse">
            <a:avLst/>
          </a:prstGeom>
          <a:solidFill>
            <a:srgbClr val="E6F5F0"/>
          </a:solidFill>
          <a:ln/>
        </p:spPr>
      </p:sp>
      <p:sp>
        <p:nvSpPr>
          <p:cNvPr id="34" name="Text 32"/>
          <p:cNvSpPr/>
          <p:nvPr/>
        </p:nvSpPr>
        <p:spPr>
          <a:xfrm>
            <a:off x="9189720" y="3387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tm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665208" y="335127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混合时间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08008" y="3899916"/>
            <a:ext cx="2212848" cy="717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把整罐拌匀所需时间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罐越大混合越慢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几秒 → 几十秒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4476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9" name="Text 37"/>
          <p:cNvSpPr/>
          <p:nvPr/>
        </p:nvSpPr>
        <p:spPr>
          <a:xfrm>
            <a:off x="627278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P/V = Np·ρ·N³·Di⁵ / V (W/m³)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897940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41" name="Shape 39"/>
          <p:cNvSpPr/>
          <p:nvPr/>
        </p:nvSpPr>
        <p:spPr>
          <a:xfrm>
            <a:off x="897940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42" name="Text 40"/>
          <p:cNvSpPr/>
          <p:nvPr/>
        </p:nvSpPr>
        <p:spPr>
          <a:xfrm>
            <a:off x="910742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OTR = kLa·(C*−C_L),kLa 单位 1/h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614476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44" name="Shape 42"/>
          <p:cNvSpPr/>
          <p:nvPr/>
        </p:nvSpPr>
        <p:spPr>
          <a:xfrm>
            <a:off x="614476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45" name="Text 43"/>
          <p:cNvSpPr/>
          <p:nvPr/>
        </p:nvSpPr>
        <p:spPr>
          <a:xfrm>
            <a:off x="627278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tip speed = π·N·Di (m/s),CHO 多 &lt; 2 m/s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897940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47" name="Shape 45"/>
          <p:cNvSpPr/>
          <p:nvPr/>
        </p:nvSpPr>
        <p:spPr>
          <a:xfrm>
            <a:off x="897940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48" name="Text 46"/>
          <p:cNvSpPr/>
          <p:nvPr/>
        </p:nvSpPr>
        <p:spPr>
          <a:xfrm>
            <a:off x="910742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P/V:CHO 10~50 W/m³｜微生物 数百~上千 W/m³</a:t>
            </a:r>
            <a:endParaRPr lang="en-US" sz="8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雷诺数、流型与放大的『不可能三角』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放大的工程原理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雷诺数 Re = ρ·N·Di²/μ 判断流型:Re 大→湍流(混合好、剪切高),Re 小→层流(混合差)。生物反应器搅拌区通常处于过渡到湍流区。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流型决定功率数 Np 与混合效率——湍流区 Np 趋于常数,这也是 P/V 公式成立的前提。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关键真相:放大时你无法同时保持 P/V、kLa、tip speed、混合时间全和小罐一样——这就是『不可能三角』(俗称,严格说是多目标冲突)。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举例:想保持 P/V 恒定,转速 N 必须随罐变大而下降,结果 tip speed 下来了、但混合时间变长、kLa 也跟着变——按下葫芦浮起瓢。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若强行保持 tip speed 恒定,则 P/V 会大幅下降,混合和供氧又跟不上。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所以放大本质是『工程取舍』:先抓住对你这个工艺最关键的那一个量(放大准则),其余接受可控偏移——这正是下一章的主题。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1828800" y="3337560"/>
            <a:ext cx="2468880" cy="1920240"/>
          </a:xfrm>
          <a:prstGeom prst="triangle">
            <a:avLst/>
          </a:prstGeom>
          <a:solidFill>
            <a:srgbClr val="E6F5F0"/>
          </a:solidFill>
          <a:ln w="19050">
            <a:solidFill>
              <a:srgbClr val="17A9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4297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</a:t>
            </a:r>
            <a:endParaRPr lang="en-US" sz="1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同时守恒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3063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P/V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52760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tip speed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5276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 / kLa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3429000"/>
          <a:ext cx="62453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295351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放大准则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转速 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被牺牲的量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 P/V 恒定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 下降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混合时间变长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 tip speed 恒定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 更多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P/V 与 kLa 下降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保混合时间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 上升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剪切过高伤细胞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06 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914400" cy="73152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放大准则与策略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没有全都保住的准则,只有针对你这个工艺限制性因素选对要保的那一个。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2895" y="6035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B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三种主流放大准则:各自保住什么、牺牲什么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放大准则与策略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放大的核心难题:小罐里供氧、混合、剪切是同时满足的,放大后它们朝相反方向变化,无法全部守恒——所以必须『选一个保,放一个让』。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恒定 kLa:优先保供氧。适合高密度 CHO、对 DO 敏感的氧受限场景;代价是大罐搅拌/通气偏强,剪切和泡沫风险上升。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恒定 P/V:保住每升液体的搅拌能量,是工业上最常用、最稳妥的折中——混合与传质都不至于太差;但放大后 kLa 略降、剪切略升,两头各让一点。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恒定 tip speed:优先压住剪切。适合剪切敏感的细胞或脆弱载体;代价是大罐里相对搅拌变弱,混合变慢、供氧能力下降,可能 DO 分层。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记住一句:没有『全都保住』的准则,只有针对你这个工艺的限制性因素,选对要保的那一个。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3514344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26080"/>
            <a:ext cx="3514344" cy="82296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127248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恒定 kLa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9808" y="3547872"/>
            <a:ext cx="311200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保供氧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适合高密度 / 氧受限培养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剪切 / 泡沫风险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37304" y="2926080"/>
            <a:ext cx="3514344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37304" y="2926080"/>
            <a:ext cx="3514344" cy="82296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9" name="Text 17"/>
          <p:cNvSpPr/>
          <p:nvPr/>
        </p:nvSpPr>
        <p:spPr>
          <a:xfrm>
            <a:off x="4538472" y="3127248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恒定 P/V(工业最常用)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38472" y="3547872"/>
            <a:ext cx="311200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保单位体积搅拌能量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稳妥折中,通用首选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9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 kLa 略降、剪切略升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25968" y="2926080"/>
            <a:ext cx="3514344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25968" y="2926080"/>
            <a:ext cx="3514344" cy="82296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23" name="Text 21"/>
          <p:cNvSpPr/>
          <p:nvPr/>
        </p:nvSpPr>
        <p:spPr>
          <a:xfrm>
            <a:off x="8327136" y="3127248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恒定 tip speed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27136" y="3547872"/>
            <a:ext cx="311200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保剪切上限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适合剪切敏感细胞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混合 / 供氧变弱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779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放大方向 →(体积变大,以上趋势随之发生);没有『全都保住』的准则,按限制性因素选要保的那一个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怎么选:限制性因素分析 + 三准则对比表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放大准则与策略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选准则第一步不是背公式,而是问一句:在我这个工艺里,最先『撑不住』的是谁——供氧、混合,还是细胞被剪切打伤?谁最先出问题就优先保谁。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哺乳动物细胞(CHO):细胞脆、代谢慢、不耐高剪切,实践中通常以 P/V 或 kLa 为主导,同时把 tip speed 卡在上限以内当『安全护栏』。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微生物发酵(大肠杆菌/酵母):细胞壁硬、代谢猛、产热高、耗氧大,瓶颈在供氧和传热,所以更看重 kLa,剪切一般不是主要矛盾。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对比表横向比三准则的『保什么 / 随放大趋势 / 适用场景 / 主要风险』,帮你在现场快速对号入座。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落地提醒:准则是放大设计的『起点』而非『终点』——定准则给出第一版参数后,仍要用 scale-down 模型验证、再用 PAT 微调,最终以产品可比为准。</a:t>
            </a:r>
            <a:endParaRPr lang="en-US" sz="103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3291840"/>
                <a:gridCol w="4142232"/>
              </a:tblGrid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保持的量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随放大的趋势(其它量怎么变)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 / 主要风险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恒定 kLa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氧传质 kLa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P/V 上升、剪切上升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高密度 / 氧受限培养;风险=搅拌过强、泡沫多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恒定 P/V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单位体积功率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kLa 略降、剪切略升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大多数通用场景,稳妥折中(工业最常用)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恒定 tip speed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桨叶端速(剪切)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相对搅拌变弱、混合/kLa 下降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剪切敏感细胞 / 载体;风险=DO 分层、营养死区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5779008"/>
            <a:ext cx="11091672" cy="310896"/>
          </a:xfrm>
          <a:prstGeom prst="rect">
            <a:avLst/>
          </a:prstGeom>
          <a:solidFill>
            <a:srgbClr val="E6F5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先做限制性因素分析(卡供氧?卡混合?卡剪切?),再选准则;准则只给第一版参数,仍需 scale-down 验证 + PAT 微调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50L → 2000L 放大算例:几何相似下的转速换算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673352" y="1078992"/>
            <a:ext cx="99697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把抽象公式变成一次可复算的数算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放大准则与策略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前提·几何相似:大小罐形状相同,所有线性尺寸按同一比例放大。体积比 = 2000/50 = 40 倍;但桨叶直径比 Di₂/Di₁ = 40^(1/3) ≈ 3.42——体积放大 40 倍,直径只放大约 3.42 倍,这是所有换算的根。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放大不能同时守住所有量:Re、P/V、tip speed 随转速的标度方式不同,只能挑一个守住。CHO 培养通常以恒定 P/V 为主、同时盯住 tip speed 不超标。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方案A·恒定 P/V(推荐基准):N₂/N₁ = (Di₁/Di₂)^(2/3) = 40^(−2/9) ≈ 0.44。设小罐 N₁=150 rpm,则大罐 N₂ ≈ 66 rpm(大罐转得更慢)。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方案A 的代价(核心教学点):转速降到 0.44 倍,但桨直径涨了 3.42 倍,桨尖线速度反而上升——tip speed 比 = 0.44×3.42 ≈ 1.5,剪切环境升到约 1.5 倍,大罐必须复核 tip speed 防止伤细胞。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方案B·恒定 tip speed:N₂/N₁ = 1/3.42 ≈ 0.29 → N₂ ≈ 44 rpm;但 P/V 只剩约 29%,混合变差、供氧不足。守剪切则牺牲混合,二者天然矛盾,需折中。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复算口诀(自查):①体积比开立方得线性比;②恒 P/V 转速降到 0.44 倍、剪切升到 1.5 倍;③恒 tip speed 转速降到 0.29 倍、P/V 掉到 0.29 倍。记住三个数:3.42 / 0.44 / 0.29。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6675120" cy="292608"/>
          </a:xfrm>
          <a:prstGeom prst="rect">
            <a:avLst/>
          </a:prstGeom>
          <a:solidFill>
            <a:srgbClr val="E6F5F0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前提:V₂/V₁ = 2000/50 = 40,Di₂/Di₁ = 40^(1/3) ≈ 3.42  →  体积放大 40 倍,直径只放大约 3.42 倍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28416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743200"/>
                <a:gridCol w="91440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放大方案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转速换算公式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大罐 N₂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放大代价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恒定 P/V(推荐基准)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N₂/N₁ = (Di₁/Di₂)^(2/3) = 40^(−2/9) ≈ 0.44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66 rpm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tip speed 升到 1.5×(剪切↑)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恒定 tip speed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N₂/N₁ = 1/3.42 ≈ 0.29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44 rpm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P/V 掉到约 29%(混合/供氧↓)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恒定 Re(参考,少用)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N₂/N₁ = 40^(−2/3) ≈ 0.086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13 rpm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实务极少采用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Chart 0" descr=""/>
          <p:cNvGraphicFramePr/>
          <p:nvPr/>
        </p:nvGraphicFramePr>
        <p:xfrm>
          <a:off x="7498080" y="2926080"/>
          <a:ext cx="4142232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07 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914400" cy="73152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种子扩增策略 Seed Train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N-x 以终为始,逐级把细胞『状态』和『数量』同时备好。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2895" y="6035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B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种子扩增链:从一支冻存管到生产罐的逐级接力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种子扩增策略 Seed Train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放大不是『一步把小罐倒进大罐』,而是先把细胞数量一级一级『养够』,这条链就叫种子扩增链(Seed Train)。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起点是一支细胞库冻存管:工作细胞库(WCB)从液氮解冻复苏,活细胞往往只有 10⁶ 量级,远不够接种生产罐。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载体随体积逐级演进:摇瓶/T 瓶 → WAVE 摇袋 → 小型 STR/SUB → 大型 STR/SUB(生产罐),每级体积约放大 4~10 倍。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每级达到目标活细胞密度(VCD)后,按设定稀释比例『传代/接种』到下一级更大的反应器。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核心理念:生产罐看到的细胞,状态必须和小罐里一样『健康、年轻、指数生长』——种子链是为了把细胞『状态』和『数量』同时备好。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 CHO 种子链 4~6 级,总历时约 2~4 周,是整批生产前的『隐形长跑』。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868680" cy="914400"/>
          </a:xfrm>
          <a:prstGeom prst="roundRect">
            <a:avLst>
              <a:gd name="adj" fmla="val 8421"/>
            </a:avLst>
          </a:prstGeom>
          <a:solidFill>
            <a:srgbClr val="0A45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WCB</a:t>
            </a:r>
            <a:endParaRPr lang="en-US" sz="10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44752" y="5001768"/>
            <a:ext cx="182880" cy="237744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0999" y="4160520"/>
            <a:ext cx="777240" cy="1166774"/>
          </a:xfrm>
          <a:prstGeom prst="roundRect">
            <a:avLst>
              <a:gd name="adj" fmla="val 9412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0999" y="5217566"/>
            <a:ext cx="777240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96719" y="4627230"/>
            <a:ext cx="685800" cy="645201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18" name="Shape 16"/>
          <p:cNvSpPr/>
          <p:nvPr/>
        </p:nvSpPr>
        <p:spPr>
          <a:xfrm>
            <a:off x="2416759" y="3995928"/>
            <a:ext cx="45720" cy="863413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5522976"/>
            <a:ext cx="1770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摇瓶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06470" y="5001768"/>
            <a:ext cx="265176" cy="237744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21" name="Shape 19"/>
          <p:cNvSpPr/>
          <p:nvPr/>
        </p:nvSpPr>
        <p:spPr>
          <a:xfrm>
            <a:off x="3995014" y="3886200"/>
            <a:ext cx="886968" cy="1408176"/>
          </a:xfrm>
          <a:prstGeom prst="roundRect">
            <a:avLst>
              <a:gd name="adj" fmla="val 8247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95014" y="5184648"/>
            <a:ext cx="886968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40734" y="4449470"/>
            <a:ext cx="795528" cy="790042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24" name="Shape 22"/>
          <p:cNvSpPr/>
          <p:nvPr/>
        </p:nvSpPr>
        <p:spPr>
          <a:xfrm>
            <a:off x="4415638" y="3721608"/>
            <a:ext cx="45720" cy="1042050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25" name="Shape 23"/>
          <p:cNvSpPr/>
          <p:nvPr/>
        </p:nvSpPr>
        <p:spPr>
          <a:xfrm>
            <a:off x="4237330" y="5012741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6" name="Shape 24"/>
          <p:cNvSpPr/>
          <p:nvPr/>
        </p:nvSpPr>
        <p:spPr>
          <a:xfrm>
            <a:off x="4301338" y="484814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7" name="Shape 25"/>
          <p:cNvSpPr/>
          <p:nvPr/>
        </p:nvSpPr>
        <p:spPr>
          <a:xfrm>
            <a:off x="4411066" y="4774997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0794" y="482986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9" name="Shape 27"/>
          <p:cNvSpPr/>
          <p:nvPr/>
        </p:nvSpPr>
        <p:spPr>
          <a:xfrm>
            <a:off x="4374490" y="4912157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0" name="Shape 28"/>
          <p:cNvSpPr/>
          <p:nvPr/>
        </p:nvSpPr>
        <p:spPr>
          <a:xfrm>
            <a:off x="4465930" y="4912157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31" name="Text 29"/>
          <p:cNvSpPr/>
          <p:nvPr/>
        </p:nvSpPr>
        <p:spPr>
          <a:xfrm>
            <a:off x="3553358" y="5522976"/>
            <a:ext cx="1770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WAVE 摇袋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几~几十 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5349" y="5001768"/>
            <a:ext cx="265176" cy="237744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33" name="Shape 31"/>
          <p:cNvSpPr/>
          <p:nvPr/>
        </p:nvSpPr>
        <p:spPr>
          <a:xfrm>
            <a:off x="5952744" y="3680460"/>
            <a:ext cx="969264" cy="1589227"/>
          </a:xfrm>
          <a:prstGeom prst="roundRect">
            <a:avLst>
              <a:gd name="adj" fmla="val 7547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52744" y="5159959"/>
            <a:ext cx="969264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98464" y="4316151"/>
            <a:ext cx="877824" cy="898672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36" name="Shape 34"/>
          <p:cNvSpPr/>
          <p:nvPr/>
        </p:nvSpPr>
        <p:spPr>
          <a:xfrm>
            <a:off x="6414516" y="3515868"/>
            <a:ext cx="45720" cy="1176028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37" name="Shape 35"/>
          <p:cNvSpPr/>
          <p:nvPr/>
        </p:nvSpPr>
        <p:spPr>
          <a:xfrm>
            <a:off x="6144768" y="4347935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4729350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9" name="Shape 37"/>
          <p:cNvSpPr/>
          <p:nvPr/>
        </p:nvSpPr>
        <p:spPr>
          <a:xfrm>
            <a:off x="6236208" y="4951842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0216" y="4787250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41" name="Shape 39"/>
          <p:cNvSpPr/>
          <p:nvPr/>
        </p:nvSpPr>
        <p:spPr>
          <a:xfrm>
            <a:off x="6409944" y="4714098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42" name="Shape 40"/>
          <p:cNvSpPr/>
          <p:nvPr/>
        </p:nvSpPr>
        <p:spPr>
          <a:xfrm>
            <a:off x="6519672" y="4768962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43" name="Shape 41"/>
          <p:cNvSpPr/>
          <p:nvPr/>
        </p:nvSpPr>
        <p:spPr>
          <a:xfrm>
            <a:off x="6373368" y="4851258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44" name="Shape 42"/>
          <p:cNvSpPr/>
          <p:nvPr/>
        </p:nvSpPr>
        <p:spPr>
          <a:xfrm>
            <a:off x="6464808" y="4851258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45" name="Text 43"/>
          <p:cNvSpPr/>
          <p:nvPr/>
        </p:nvSpPr>
        <p:spPr>
          <a:xfrm>
            <a:off x="5552237" y="5522976"/>
            <a:ext cx="1770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 STR/SUB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几百 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04227" y="5001768"/>
            <a:ext cx="265176" cy="237744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47" name="Shape 45"/>
          <p:cNvSpPr/>
          <p:nvPr/>
        </p:nvSpPr>
        <p:spPr>
          <a:xfrm>
            <a:off x="7924190" y="3543300"/>
            <a:ext cx="1024128" cy="1709928"/>
          </a:xfrm>
          <a:prstGeom prst="roundRect">
            <a:avLst>
              <a:gd name="adj" fmla="val 7143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24190" y="5143500"/>
            <a:ext cx="1024128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69910" y="4227271"/>
            <a:ext cx="932688" cy="971093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50" name="Shape 48"/>
          <p:cNvSpPr/>
          <p:nvPr/>
        </p:nvSpPr>
        <p:spPr>
          <a:xfrm>
            <a:off x="8413394" y="3378708"/>
            <a:ext cx="45720" cy="1265347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51" name="Shape 49"/>
          <p:cNvSpPr/>
          <p:nvPr/>
        </p:nvSpPr>
        <p:spPr>
          <a:xfrm>
            <a:off x="8143646" y="4261470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52" name="Shape 50"/>
          <p:cNvSpPr/>
          <p:nvPr/>
        </p:nvSpPr>
        <p:spPr>
          <a:xfrm>
            <a:off x="8143646" y="4671852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53" name="Shape 51"/>
          <p:cNvSpPr/>
          <p:nvPr/>
        </p:nvSpPr>
        <p:spPr>
          <a:xfrm>
            <a:off x="8235086" y="4911242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54" name="Shape 52"/>
          <p:cNvSpPr/>
          <p:nvPr/>
        </p:nvSpPr>
        <p:spPr>
          <a:xfrm>
            <a:off x="8299094" y="4746650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55" name="Shape 53"/>
          <p:cNvSpPr/>
          <p:nvPr/>
        </p:nvSpPr>
        <p:spPr>
          <a:xfrm>
            <a:off x="8408822" y="4673498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56" name="Shape 54"/>
          <p:cNvSpPr/>
          <p:nvPr/>
        </p:nvSpPr>
        <p:spPr>
          <a:xfrm>
            <a:off x="8518550" y="4728362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57" name="Shape 55"/>
          <p:cNvSpPr/>
          <p:nvPr/>
        </p:nvSpPr>
        <p:spPr>
          <a:xfrm>
            <a:off x="8372246" y="4810658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58" name="Shape 56"/>
          <p:cNvSpPr/>
          <p:nvPr/>
        </p:nvSpPr>
        <p:spPr>
          <a:xfrm>
            <a:off x="8463686" y="4810658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59" name="Text 57"/>
          <p:cNvSpPr/>
          <p:nvPr/>
        </p:nvSpPr>
        <p:spPr>
          <a:xfrm>
            <a:off x="7551115" y="5522976"/>
            <a:ext cx="1770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SUB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~1000 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303106" y="5001768"/>
            <a:ext cx="265176" cy="237744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61" name="Shape 59"/>
          <p:cNvSpPr/>
          <p:nvPr/>
        </p:nvSpPr>
        <p:spPr>
          <a:xfrm>
            <a:off x="9909353" y="3474720"/>
            <a:ext cx="1051560" cy="1770278"/>
          </a:xfrm>
          <a:prstGeom prst="roundRect">
            <a:avLst>
              <a:gd name="adj" fmla="val 6957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909353" y="5135270"/>
            <a:ext cx="1051560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955073" y="4182831"/>
            <a:ext cx="960120" cy="1007303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64" name="Shape 62"/>
          <p:cNvSpPr/>
          <p:nvPr/>
        </p:nvSpPr>
        <p:spPr>
          <a:xfrm>
            <a:off x="10412273" y="3310128"/>
            <a:ext cx="45720" cy="1310006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65" name="Shape 63"/>
          <p:cNvSpPr/>
          <p:nvPr/>
        </p:nvSpPr>
        <p:spPr>
          <a:xfrm>
            <a:off x="10142525" y="4218237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66" name="Shape 64"/>
          <p:cNvSpPr/>
          <p:nvPr/>
        </p:nvSpPr>
        <p:spPr>
          <a:xfrm>
            <a:off x="10142525" y="4643104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67" name="Shape 65"/>
          <p:cNvSpPr/>
          <p:nvPr/>
        </p:nvSpPr>
        <p:spPr>
          <a:xfrm>
            <a:off x="10233965" y="4890943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8" name="Shape 66"/>
          <p:cNvSpPr/>
          <p:nvPr/>
        </p:nvSpPr>
        <p:spPr>
          <a:xfrm>
            <a:off x="10297973" y="472635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69" name="Shape 67"/>
          <p:cNvSpPr/>
          <p:nvPr/>
        </p:nvSpPr>
        <p:spPr>
          <a:xfrm>
            <a:off x="10407701" y="465319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70" name="Shape 68"/>
          <p:cNvSpPr/>
          <p:nvPr/>
        </p:nvSpPr>
        <p:spPr>
          <a:xfrm>
            <a:off x="10517429" y="4708063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71" name="Shape 69"/>
          <p:cNvSpPr/>
          <p:nvPr/>
        </p:nvSpPr>
        <p:spPr>
          <a:xfrm>
            <a:off x="10371125" y="479035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72" name="Shape 70"/>
          <p:cNvSpPr/>
          <p:nvPr/>
        </p:nvSpPr>
        <p:spPr>
          <a:xfrm>
            <a:off x="10462565" y="479035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73" name="Shape 71"/>
          <p:cNvSpPr/>
          <p:nvPr/>
        </p:nvSpPr>
        <p:spPr>
          <a:xfrm>
            <a:off x="9863633" y="3429000"/>
            <a:ext cx="1143000" cy="2103120"/>
          </a:xfrm>
          <a:prstGeom prst="roundRect">
            <a:avLst>
              <a:gd name="adj" fmla="val 4000"/>
            </a:avLst>
          </a:prstGeom>
          <a:ln w="25400">
            <a:solidFill>
              <a:srgbClr val="0E7C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549994" y="5522976"/>
            <a:ext cx="1770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生产罐 N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≥2000 L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48640" y="58338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接种 / 传代方向 →   每级体积放大 4~10 倍   ·   总历时约 2~4 周(常 4~6 级)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N-x 命名法与接种控制:把每一级『传对量、传对时』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种子扩增策略 Seed Train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反应器用 N-x 倒数命名:生产罐叫 N,往上游回推一级是 N-1,再上一级是 N-2,依此类推——数字越大离生产罐越远、罐子越小。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这套命名的好处是『以终为始』:工艺设计时先定生产罐 N,再倒推每一级要多大、养多少细胞,整条链一目了然。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逐级放大比例(split ratio)决定每次传代『稀释多少倍』;接种密度(seeding density)决定下一级『从多少细胞起步』,两者要匹配反应器体积。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接种时机三看:看密度(到目标 VCD)、看活率(viability 一般 ≥90%)、看种龄(细胞太老代谢漂移、活力下降,不能再传)。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高接种密度策略:让 N-1 用灌流把细胞养到很高密度,再高密度接进生产罐,相当于让生产罐『一开场就人多』,显著缩短生产周期、变相提高产能。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记一句:传早了细胞还没攒够拉长滞后期,传晚了细胞养老活力掉——种子链管理就是管这个『时间窗』。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31520" y="3369564"/>
            <a:ext cx="729234" cy="816742"/>
          </a:xfrm>
          <a:prstGeom prst="roundRect">
            <a:avLst>
              <a:gd name="adj" fmla="val 10031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076578"/>
            <a:ext cx="729234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96261"/>
            <a:ext cx="637794" cy="435181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3277" y="3204972"/>
            <a:ext cx="45720" cy="604389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3400"/>
            <a:ext cx="912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N-3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0754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63674" y="3273552"/>
            <a:ext cx="804672" cy="901233"/>
          </a:xfrm>
          <a:prstGeom prst="roundRect">
            <a:avLst>
              <a:gd name="adj" fmla="val 9091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3674" y="4065057"/>
            <a:ext cx="804672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394" y="3634045"/>
            <a:ext cx="713232" cy="485876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22" name="Shape 20"/>
          <p:cNvSpPr/>
          <p:nvPr/>
        </p:nvSpPr>
        <p:spPr>
          <a:xfrm>
            <a:off x="2343150" y="3108960"/>
            <a:ext cx="45720" cy="666912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23" name="Text 21"/>
          <p:cNvSpPr/>
          <p:nvPr/>
        </p:nvSpPr>
        <p:spPr>
          <a:xfrm>
            <a:off x="1872234" y="43434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N-2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68346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71266" y="3145536"/>
            <a:ext cx="905256" cy="1013887"/>
          </a:xfrm>
          <a:prstGeom prst="roundRect">
            <a:avLst>
              <a:gd name="adj" fmla="val 8081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71266" y="4049695"/>
            <a:ext cx="905256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6986" y="3551091"/>
            <a:ext cx="813816" cy="553468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28" name="Shape 26"/>
          <p:cNvSpPr/>
          <p:nvPr/>
        </p:nvSpPr>
        <p:spPr>
          <a:xfrm>
            <a:off x="3701034" y="2980944"/>
            <a:ext cx="45720" cy="750276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29" name="Text 27"/>
          <p:cNvSpPr/>
          <p:nvPr/>
        </p:nvSpPr>
        <p:spPr>
          <a:xfrm>
            <a:off x="3179826" y="434340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N-1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76522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79442" y="3017520"/>
            <a:ext cx="1005840" cy="1126541"/>
          </a:xfrm>
          <a:prstGeom prst="roundRect">
            <a:avLst>
              <a:gd name="adj" fmla="val 7273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79442" y="4034333"/>
            <a:ext cx="1005840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25162" y="3468136"/>
            <a:ext cx="914400" cy="621060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34" name="Shape 32"/>
          <p:cNvSpPr/>
          <p:nvPr/>
        </p:nvSpPr>
        <p:spPr>
          <a:xfrm>
            <a:off x="5159502" y="2852928"/>
            <a:ext cx="45720" cy="833640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35" name="Text 33"/>
          <p:cNvSpPr/>
          <p:nvPr/>
        </p:nvSpPr>
        <p:spPr>
          <a:xfrm>
            <a:off x="4588002" y="4343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以终为始:先定生产罐 N,再倒推每一级(数字越大越上游、罐越小)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926080"/>
          <a:ext cx="56052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13055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常规种子链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高接种密度(N-1 灌流)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N-1 模式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分批补料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灌流 perfusion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接种 VCD(×10⁶)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 ~ 0.6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~ 20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生产罐爬坡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短(省 2~4 天)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操作复杂度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08 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914400" cy="73152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放大中的挑战与风险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罐子变大,梯度、剪切、CO₂、泡沫、传质受限会一起找上门。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2895" y="6035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B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大罐里『哪里容易出事』:混合、剪切与 CO₂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放大中的挑战与风险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81328"/>
            <a:ext cx="54406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核心一句:放大不是把小罐『等比例拉大』——罐子越大,细胞看到的微环境越不均匀,越难控。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混合不均与梯度:大罐里搅拌桨的能量传不到罐顶罐底,补料/碱液加进去要几十秒才混匀,细胞在罐内『游』一圈会经历 pH、DO、葡萄糖、温度的高低起伏。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剪切力:搅拌桨叶尖速度太高、通气气泡在液面破裂,都会撕扯 CHO 细胞——动物细胞没有细胞壁,比微生物脆得多。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CO₂ 累积:大罐液柱高(可达 2~3 米),底部静压大、气泡上浮路径短,代谢 CO₂ 吹脱不出去,溶解 CO₂ 越积越高,抑制生长、干扰 pH 控制。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记住因果链:罐子变大 → 单位体积搅拌/通气能力下降 → 混合差+供气差 → 梯度、剪切、CO₂ 三个问题同时找上门。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389888"/>
            <a:ext cx="5742432" cy="3429000"/>
          </a:xfrm>
          <a:prstGeom prst="roundRect">
            <a:avLst>
              <a:gd name="adj" fmla="val 1600"/>
            </a:avLst>
          </a:prstGeom>
          <a:solidFill>
            <a:srgbClr val="F2FAF7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088" y="1618488"/>
            <a:ext cx="1828800" cy="2615184"/>
          </a:xfrm>
          <a:prstGeom prst="roundRect">
            <a:avLst>
              <a:gd name="adj" fmla="val 4000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4123944"/>
            <a:ext cx="1828800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08" y="2403043"/>
            <a:ext cx="1737360" cy="1775765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0628" y="1453896"/>
            <a:ext cx="45720" cy="1935236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0" y="2716865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8" name="Shape 16"/>
          <p:cNvSpPr/>
          <p:nvPr/>
        </p:nvSpPr>
        <p:spPr>
          <a:xfrm>
            <a:off x="7040880" y="3344509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3710635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0" name="Shape 18"/>
          <p:cNvSpPr/>
          <p:nvPr/>
        </p:nvSpPr>
        <p:spPr>
          <a:xfrm>
            <a:off x="7196328" y="3546043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06056" y="347289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2" name="Shape 20"/>
          <p:cNvSpPr/>
          <p:nvPr/>
        </p:nvSpPr>
        <p:spPr>
          <a:xfrm>
            <a:off x="7415784" y="3527755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3" name="Shape 21"/>
          <p:cNvSpPr/>
          <p:nvPr/>
        </p:nvSpPr>
        <p:spPr>
          <a:xfrm>
            <a:off x="7269480" y="361005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4" name="Shape 22"/>
          <p:cNvSpPr/>
          <p:nvPr/>
        </p:nvSpPr>
        <p:spPr>
          <a:xfrm>
            <a:off x="7360920" y="361005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5" name="Text 23"/>
          <p:cNvSpPr/>
          <p:nvPr/>
        </p:nvSpPr>
        <p:spPr>
          <a:xfrm>
            <a:off x="8430768" y="170992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气泡破裂 → 剪切损伤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30768" y="271576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高叶尖速度 → 剪切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30768" y="335584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pH / DO / 营养梯度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30768" y="413308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罐底 CO₂ 累积 · 静压大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30768" y="4306824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罐体放大 → 单位体积换气/混合能力下降 → 梯度、剪切、CO₂ 同时找上门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4476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476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2" name="Text 30"/>
          <p:cNvSpPr/>
          <p:nvPr/>
        </p:nvSpPr>
        <p:spPr>
          <a:xfrm>
            <a:off x="627278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混匀时间:小罐几秒,2000 L 大罐可达 30~60 秒甚至更长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897940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34" name="Shape 32"/>
          <p:cNvSpPr/>
          <p:nvPr/>
        </p:nvSpPr>
        <p:spPr>
          <a:xfrm>
            <a:off x="897940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5" name="Text 33"/>
          <p:cNvSpPr/>
          <p:nvPr/>
        </p:nvSpPr>
        <p:spPr>
          <a:xfrm>
            <a:off x="910742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 耐受叶尖速度上限:约 1.5~2.5 m/s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614476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37" name="Shape 35"/>
          <p:cNvSpPr/>
          <p:nvPr/>
        </p:nvSpPr>
        <p:spPr>
          <a:xfrm>
            <a:off x="614476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8" name="Text 36"/>
          <p:cNvSpPr/>
          <p:nvPr/>
        </p:nvSpPr>
        <p:spPr>
          <a:xfrm>
            <a:off x="627278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pCO₂ 健康约 30~80 mmHg;大罐易升到 &gt;100~150 mmHg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897940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40" name="Shape 38"/>
          <p:cNvSpPr/>
          <p:nvPr/>
        </p:nvSpPr>
        <p:spPr>
          <a:xfrm>
            <a:off x="897940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41" name="Text 39"/>
          <p:cNvSpPr/>
          <p:nvPr/>
        </p:nvSpPr>
        <p:spPr>
          <a:xfrm>
            <a:off x="910742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大罐液柱高度典型 2~3 m,底部静压影响溶解气体</a:t>
            </a:r>
            <a:endParaRPr lang="en-US" sz="8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泡沫、传质受限与『小罐好 ≠ 大罐好』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放大中的挑战与风险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泡沫:高通气量加上培养液里的蛋白和表面活性物质,大罐液面容易起厚泡沫,严重时顶到排气过滤器、堵滤芯、甚至触发液位误报。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消泡剂是双刃剑:能压泡沫,但加多了会降低氧传质 kLa、可能影响下游过滤和细胞活性——要『少量、按需、分次』加,不能一次猛灌。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传质受限:高细胞密度时耗氧量大,而大罐单位体积供氧能力(kLa)更难做高,容易出现『供氧跟不上需求』,DO 压不住往下掉。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供氧能力用 kLa 衡量:OTR = kLa·(C*−C_L)。放大时 kLa 通常变小,而细胞需求(OUR)不变甚至更高。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热点提示(scale 依赖效应):小罐跑得漂亮,绝不等于大罐没问题——很多差异(梯度、CO₂、kLa、剪切)只有体积上去了才暴露。这正是要用 scale-down 模型提前预演大罐脾气的原因。</a:t>
            </a:r>
            <a:endParaRPr lang="en-US" sz="103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400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23774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现象 / 原因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现场应对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泡沫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高通气+蛋白起泡,顶到排气过滤器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按需分次加消泡剂,监控液位与排气压差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传质受限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高密度耗氧大、kLa 不足,DO 掉下限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提高搅拌/通气、纯氧补气、控密度峰值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 依赖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小罐表现无法直接外推到大罐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scale-down 模型预测,分级验证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hart 0" descr=""/>
          <p:cNvGraphicFramePr/>
          <p:nvPr/>
        </p:nvGraphicFramePr>
        <p:xfrm>
          <a:off x="7315200" y="2926080"/>
          <a:ext cx="4325112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上游放大现场异常排障速查表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673352" y="1078992"/>
            <a:ext cx="99697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出事先翻这张表:先查文件、先按串级,再动手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放大中的挑战与风险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铁律:任何异常,先查受控文件(SOP / 工艺规程 / 批记录)、先按 DO·pH 的串级逻辑核对,再动手——不凭记忆、不拍脑袋手动改参数;调整前后都要记录,拿不准就报班长/工程师走偏差流程。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通用套路①:在线读数异常先别全信,先用离线血气/代谢物复核——很多『异常』其实是探头漂移或没标定。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通用套路②:DO、pH 都是串级控制,要逐级、留余量地调(DO 别一上来就纯氧拉满;pH 别手动猛加酸碱)。泡沫顶到排气过滤器是最该立刻反应的——威胁罐压与无菌,马上处置并上报。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11091672" cy="292608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铁律:先查受控文件 · 先按串级与 SOP · 不凭记忆乱调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10128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45994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异常现象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可能原因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先查 / 先做(第一步)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321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 压不住 / 掉到下限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细胞耗氧激增;通气搅拌未跟上;DO 电极漂移/老化;气源或进气过滤器不足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核对 DO 探头是否在标定有效期、对照在线值与离线血气;按串级逐级提升(转速→空气→纯氧),不要一步拉满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321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 持续漂移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代谢产酸/产碱;CO₂·碱液补加失衡;pH 探头漂移、参比液耗尽;补料策略偏差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离线血气复核 pH 并与在线比对;按 SOP 的 pH 死区与串级核对碱液/CO₂ 通路,而非手动猛加酸碱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321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溶解 CO₂(pCO₂)偏高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CO₂ 吹脱不足;放大后通气表面积/体积比下降;通气量不够;碱液加多生成 CO₂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查血气 pCO₂ 趋势对照工艺上限;在 SOP 范围内适当提高空气/顶空通气加强吹脱,复核碱液加量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 泡沫过多·顶到排气过滤器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蛋白/表活物质多;通气过大或气泡过细;消泡剂不足或失效;装液量偏高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先查排气过滤器是否被打湿/堵塞(关乎罐压与无菌!);按 SOP 触发消泡剂/泡沫探头;必要时短时下调通气,严禁拔管破无菌,报工程师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321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乳酸 / 铵(NH₄⁺)堆积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葡萄糖过量产乳酸;谷氨酰胺代谢产铵;补料速率/时机偏差;细胞应激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查离线代谢物与补料记录,核对是否按 feeding SOP;按规程调整补料/葡萄糖策略,不擅自大改配方,超限上报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321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活率(viability)异常下降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上述异常长期累积;剪切/泡沫损伤;染菌/支原体污染;温度或渗透压失控;近收获末期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先排除污染(查无菌/外观/趋势突变);复核近期 DO/pH/温度/渗透压;对照批记录综合判断,异常立即报班长走偏差流程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09 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914400" cy="73152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过程监测与控制 / PAT / QbD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监测是感官、控制策略是大脑、PID 是反射弧——控参数是为了控质量。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2895" y="6035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B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看得见、控得住:在线/离线监测与控制策略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过程监测与控制 / PAT / QbD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监测分两类:在线探头实时给数据——DO、pH、温度、压力始终插在罐里连续读数;离线靠每天取样去化验室——细胞密度 VCD、活率、代谢物(葡萄糖/乳酸/铵)、渗透压、效价 titer。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在线管『瞬时微环境』,离线管『细胞状态与趋势』,两条线必须对照着看——光看 DO 稳定不代表细胞健康,光看活率好也可能 DO 刚出过险情。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控制策略是一整套约定,不是单个旋钮:每个参数都有设定点 setpoint、控制范围(可接受波动带)、报警限(分提醒/动作两级)。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底层执行靠自动控制回路(PID):测量值与设定点比一比,偏差自动驱动执行器(加热、补碱、调转速/通气)把参数拉回来——人是设策略、看趋势、处理异常。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放大时设定点和报警限不能照搬小罐:同一个 DO=40%,大罐要靠更高纯氧比例和通气才维持得住,报警限、串级触发点都要按大罐重新标定。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记住一句:监测是『感官』,控制策略是『大脑』,PID 是『反射弧』——三者配齐,罐子才算真正受控。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5362956" cy="365760"/>
          </a:xfrm>
          <a:prstGeom prst="rect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在线监测(in-line)实时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474720"/>
            <a:ext cx="1280160" cy="1528877"/>
          </a:xfrm>
          <a:prstGeom prst="roundRect">
            <a:avLst>
              <a:gd name="adj" fmla="val 5714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893869"/>
            <a:ext cx="1280160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086271"/>
            <a:ext cx="1188720" cy="862462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17" name="Shape 15"/>
          <p:cNvSpPr/>
          <p:nvPr/>
        </p:nvSpPr>
        <p:spPr>
          <a:xfrm>
            <a:off x="1531620" y="3310128"/>
            <a:ext cx="45720" cy="1131369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18" name="Shape 16"/>
          <p:cNvSpPr/>
          <p:nvPr/>
        </p:nvSpPr>
        <p:spPr>
          <a:xfrm>
            <a:off x="1261872" y="4116848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9" name="Shape 17"/>
          <p:cNvSpPr/>
          <p:nvPr/>
        </p:nvSpPr>
        <p:spPr>
          <a:xfrm>
            <a:off x="1261872" y="4483779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20" name="Shape 18"/>
          <p:cNvSpPr/>
          <p:nvPr/>
        </p:nvSpPr>
        <p:spPr>
          <a:xfrm>
            <a:off x="1353312" y="4697821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1" name="Shape 19"/>
          <p:cNvSpPr/>
          <p:nvPr/>
        </p:nvSpPr>
        <p:spPr>
          <a:xfrm>
            <a:off x="1417320" y="4533229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7048" y="4460077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3" name="Shape 21"/>
          <p:cNvSpPr/>
          <p:nvPr/>
        </p:nvSpPr>
        <p:spPr>
          <a:xfrm>
            <a:off x="1636776" y="451494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4" name="Shape 22"/>
          <p:cNvSpPr/>
          <p:nvPr/>
        </p:nvSpPr>
        <p:spPr>
          <a:xfrm>
            <a:off x="1490472" y="4597237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5" name="Shape 23"/>
          <p:cNvSpPr/>
          <p:nvPr/>
        </p:nvSpPr>
        <p:spPr>
          <a:xfrm>
            <a:off x="1581912" y="4597237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6" name="Text 24"/>
          <p:cNvSpPr/>
          <p:nvPr/>
        </p:nvSpPr>
        <p:spPr>
          <a:xfrm>
            <a:off x="2377440" y="3749040"/>
            <a:ext cx="34427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探头: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溶氧 · pH · 温度 · 压力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实时数据 / 趋势曲线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77356" y="2926080"/>
            <a:ext cx="5362956" cy="365760"/>
          </a:xfrm>
          <a:prstGeom prst="rect">
            <a:avLst/>
          </a:prstGeom>
          <a:solidFill>
            <a:srgbClr val="17A9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离线监测(off-line)取样化验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68796" y="3474720"/>
            <a:ext cx="1519428" cy="502920"/>
          </a:xfrm>
          <a:prstGeom prst="roundRect">
            <a:avLst>
              <a:gd name="adj" fmla="val 12727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0236" y="3474720"/>
            <a:ext cx="13365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取样口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06512" y="3579876"/>
            <a:ext cx="274320" cy="292608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31" name="Shape 29"/>
          <p:cNvSpPr/>
          <p:nvPr/>
        </p:nvSpPr>
        <p:spPr>
          <a:xfrm>
            <a:off x="8199120" y="3474720"/>
            <a:ext cx="1519428" cy="502920"/>
          </a:xfrm>
          <a:prstGeom prst="roundRect">
            <a:avLst>
              <a:gd name="adj" fmla="val 12727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90560" y="3474720"/>
            <a:ext cx="13365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试管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736836" y="3579876"/>
            <a:ext cx="274320" cy="292608"/>
          </a:xfrm>
          <a:prstGeom prst="chevron">
            <a:avLst/>
          </a:prstGeom>
          <a:solidFill>
            <a:srgbClr val="17A98C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29444" y="3474720"/>
            <a:ext cx="1519428" cy="502920"/>
          </a:xfrm>
          <a:prstGeom prst="roundRect">
            <a:avLst>
              <a:gd name="adj" fmla="val 12727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20884" y="3474720"/>
            <a:ext cx="13365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化验室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68796" y="4160520"/>
            <a:ext cx="51800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检测项:细胞密度 VCD · 活率 · 葡萄糖/乳酸/铵 · 渗透压 · 效价 titer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5394960"/>
            <a:ext cx="5545836" cy="457200"/>
          </a:xfrm>
          <a:prstGeom prst="rect">
            <a:avLst/>
          </a:prstGeom>
          <a:solidFill>
            <a:srgbClr val="CDEBE2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4476" y="5394960"/>
            <a:ext cx="3105668" cy="457200"/>
          </a:xfrm>
          <a:prstGeom prst="rect">
            <a:avLst/>
          </a:prstGeom>
          <a:solidFill>
            <a:srgbClr val="FBEFD7"/>
          </a:solidFill>
          <a:ln/>
        </p:spPr>
      </p:sp>
      <p:sp>
        <p:nvSpPr>
          <p:cNvPr id="39" name="Shape 37"/>
          <p:cNvSpPr/>
          <p:nvPr/>
        </p:nvSpPr>
        <p:spPr>
          <a:xfrm>
            <a:off x="9200144" y="5394960"/>
            <a:ext cx="2440168" cy="457200"/>
          </a:xfrm>
          <a:prstGeom prst="rect">
            <a:avLst/>
          </a:prstGeom>
          <a:solidFill>
            <a:srgbClr val="F8E4E1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5394960"/>
            <a:ext cx="5545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控制带(setpoint 居中)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94476" y="5394960"/>
            <a:ext cx="3105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提醒限 warning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00144" y="5394960"/>
            <a:ext cx="2440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动作限 action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 闭环:测量 → 比较 setpoint → 执行器(加热/补碱/调转速通气)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串级控制实例:一个回路看懂自动控制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过程监测与控制 / PAT / QbD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目标:把 DO 稳在设定点(如 40%)。细胞一长起来耗氧猛增,单靠一种手段供不上,于是按『先省后狠』分级出手——这就是串级控制。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第一级调转速(搅拌→提高 kLa);转速到上限还不够,第二级加大空气通气量;仍不够,第三级掺入纯氧提高氧分压;极端时还可叠加罐压。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为什么分级:转速太高剪切伤细胞、通气太大泡沫和剪切风险、纯氧贵且安全要求高——系统先用代价小的手段,逼到极限才动用代价大的,这正是放大工程权衡的缩影。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供氧能力的物理上限由 kLa 决定:OTR = kLa·(C*−C_L)。大罐 kLa 通常更难做高,这就是为什么大罐供氧吃紧、必须更早动用纯氧。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串级是反馈控制的范本:测量→比较→分级执行→再测量,闭环不停转;同样思路也用在 pH(补碱/通 CO₂ 双向控制)上。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看懂这张图,你就理解了『放大不是等比放大』:小罐转速就能搞定的供氧,大罐可能一上来就得靠纯氧——同样 DO 数字,背后手段完全不同。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OTR = kLa·(C*−C_L)   |   目标:DO 稳在 40%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2402586" cy="914400"/>
          </a:xfrm>
          <a:prstGeom prst="roundRect">
            <a:avLst>
              <a:gd name="adj" fmla="val 7000"/>
            </a:avLst>
          </a:prstGeom>
          <a:solidFill>
            <a:srgbClr val="E6F5F0"/>
          </a:solidFill>
          <a:ln w="12700">
            <a:solidFill>
              <a:srgbClr val="CFE5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搅拌转速 ↑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代价:剪切风险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52978" y="3813048"/>
            <a:ext cx="256032" cy="237744"/>
          </a:xfrm>
          <a:prstGeom prst="chevron">
            <a:avLst/>
          </a:prstGeom>
          <a:solidFill>
            <a:srgbClr val="0A453B"/>
          </a:solidFill>
          <a:ln/>
        </p:spPr>
      </p:sp>
      <p:sp>
        <p:nvSpPr>
          <p:cNvPr id="16" name="Text 14"/>
          <p:cNvSpPr/>
          <p:nvPr/>
        </p:nvSpPr>
        <p:spPr>
          <a:xfrm>
            <a:off x="3536442" y="3474720"/>
            <a:ext cx="2402586" cy="914400"/>
          </a:xfrm>
          <a:prstGeom prst="roundRect">
            <a:avLst>
              <a:gd name="adj" fmla="val 7000"/>
            </a:avLst>
          </a:prstGeom>
          <a:solidFill>
            <a:srgbClr val="5FD0B6"/>
          </a:solidFill>
          <a:ln w="12700">
            <a:solidFill>
              <a:srgbClr val="CFE5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空气通气 ↑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代价:泡沫风险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66460" y="3813048"/>
            <a:ext cx="256032" cy="237744"/>
          </a:xfrm>
          <a:prstGeom prst="chevron">
            <a:avLst/>
          </a:prstGeom>
          <a:solidFill>
            <a:srgbClr val="0A453B"/>
          </a:solidFill>
          <a:ln/>
        </p:spPr>
      </p:sp>
      <p:sp>
        <p:nvSpPr>
          <p:cNvPr id="18" name="Text 16"/>
          <p:cNvSpPr/>
          <p:nvPr/>
        </p:nvSpPr>
        <p:spPr>
          <a:xfrm>
            <a:off x="6249924" y="3474720"/>
            <a:ext cx="2402586" cy="914400"/>
          </a:xfrm>
          <a:prstGeom prst="roundRect">
            <a:avLst>
              <a:gd name="adj" fmla="val 7000"/>
            </a:avLst>
          </a:prstGeom>
          <a:solidFill>
            <a:srgbClr val="17A98C"/>
          </a:solidFill>
          <a:ln w="12700">
            <a:solidFill>
              <a:srgbClr val="CFE5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纯氧掺入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代价:成本 &amp; 安全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79942" y="3813048"/>
            <a:ext cx="256032" cy="237744"/>
          </a:xfrm>
          <a:prstGeom prst="chevron">
            <a:avLst/>
          </a:prstGeom>
          <a:solidFill>
            <a:srgbClr val="0A453B"/>
          </a:solidFill>
          <a:ln/>
        </p:spPr>
      </p:sp>
      <p:sp>
        <p:nvSpPr>
          <p:cNvPr id="20" name="Text 18"/>
          <p:cNvSpPr/>
          <p:nvPr/>
        </p:nvSpPr>
        <p:spPr>
          <a:xfrm>
            <a:off x="8963406" y="3474720"/>
            <a:ext cx="2402586" cy="914400"/>
          </a:xfrm>
          <a:prstGeom prst="roundRect">
            <a:avLst>
              <a:gd name="adj" fmla="val 7000"/>
            </a:avLst>
          </a:prstGeom>
          <a:solidFill>
            <a:srgbClr val="0E7C6B"/>
          </a:solidFill>
          <a:ln w="12700">
            <a:solidFill>
              <a:srgbClr val="CFE5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罐压 ↑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代价:设备上限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先省后狠:转速不够 → 加通气 → 掺纯氧 → 加罐压;每级都有副作用,逼到极限才上猛药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反馈闭环:DO 测量 → 比较设定点 → 分级执行 → 再测量 ⟳    |    同样 DO=40%,小罐到②即可,大罐常需到③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QbD 与数据完整性:控参数背后的设计哲学与法规底线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过程监测与控制 / PAT / QbD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QbD(质量源于设计):质量不是靠最后检验『挑』出来的,而是从工艺设计阶段就『设计』进去的——先定义产品质量目标 QTPP,再倒推哪些是关键质量属性 CQA。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核心逻辑链:CPP → CQA。关键工艺参数通过实验被证明会影响关键质量属性(糖基化、聚体、电荷异构、效价),所以才要重点监测控制。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设计空间(design space):通过 DoE(实验设计)摸出的『一片安全区』——只要 CPP 落在区内,质量就有保障;区内调整不算工艺变更,出了区才需重新评估。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控制策略由此而来:设定点定在设计空间中心、控制带留余量、报警限守住边界——所有数值都有依据,不是拍脑袋。这就是『理解为什么这么控』而非『只会调旋钮』。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数据完整性是 GMP 红线,记住 ALCOA+:可归属、清晰、同步记录、原始、准确,外加完整/一致/持久/可获取。批记录必须真实、实时、可追溯,严禁事后补记或涂改。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新员工底线:在 GMP 车间『没记录=没发生』,改数据是质量事故甚至合规事件;你拧的每个旋钮、每次报警处理,都要被如实记录、能被追溯。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5120640" cy="566928"/>
          </a:xfrm>
          <a:prstGeom prst="rect">
            <a:avLst/>
          </a:prstGeom>
          <a:solidFill>
            <a:srgbClr val="0A45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QTPP 质量目标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584448"/>
            <a:ext cx="4023360" cy="566928"/>
          </a:xfrm>
          <a:prstGeom prst="rect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CQA 关键质量属性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4242816"/>
            <a:ext cx="2926080" cy="566928"/>
          </a:xfrm>
          <a:prstGeom prst="rect">
            <a:avLst/>
          </a:prstGeom>
          <a:solidFill>
            <a:srgbClr val="17A9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CPP 关键工艺参数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4901184"/>
            <a:ext cx="1828800" cy="566928"/>
          </a:xfrm>
          <a:prstGeom prst="rect">
            <a:avLst/>
          </a:prstGeom>
          <a:solidFill>
            <a:srgbClr val="5FD0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控制策略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715000"/>
            <a:ext cx="5120640" cy="310896"/>
          </a:xfrm>
          <a:prstGeom prst="rect">
            <a:avLst/>
          </a:prstGeom>
          <a:solidFill>
            <a:srgbClr val="F8E4E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ALCOA+ · 没记录=没发生 · 不许补改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0" y="288036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设计空间(design space)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217920" y="3246120"/>
          <a:ext cx="523951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6217920" y="608076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★设定点居中,虚线=控制带,出区→需重新评估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914400" cy="73152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工艺可比性与放大失败教训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放大成功的最终判据不是『跑通了』,而是产品『可比』。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2895" y="6035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B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放大成功的最终判据:产品『可比』(Comparability)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工艺可比性与放大失败教训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放大不是『罐子变大就成功』——真正的成功标准是:大罐做出来的产品,和小罐(或上一代工艺)在质量上『可比』。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可比性指放大前后的工艺性能与产品质量属性保持一致,变化在可接受范围内,不影响安全性和有效性。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评估分三个层次:①工艺性能(生长曲线、活率、titer 产量);②关键质量属性 CQA(糖基化、电荷异构体、聚体、宿主蛋白残留);③杂质谱(HCP、DNA 残留)。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口诀:『长得一样、产得一样、做出来的分子也一样』,三条都对上才算可比。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CQA 这么重要?糖基化等修饰直接影响抗体的半衰期和疗效,而它对 DO、pH、CO₂ 高度敏感——放大时最容易『悄悄漂移』。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可比性不是放大做完才补的考试,而是放大设计阶段就要锁定的目标:先定『什么必须一样』,再倒推工艺怎么控。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11091672" cy="310896"/>
          </a:xfrm>
          <a:prstGeom prst="rect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『长得一样 + 产得一样 + 分子一样 = 可比 Comparable』(依据 ICH Q5E)</a:t>
            </a:r>
            <a:endParaRPr lang="en-US" sz="1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76472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看什么指标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对什么敏感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7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工艺性能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活细胞密度 VCD / 活率 / titer 产量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温度、补料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7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产品质量属性 CQA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糖基化 / 电荷变体 / 聚体% / 片段化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DO、pH、CO₂(最易悄悄漂移)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7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杂质谱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HCP 宿主蛋白残留 / DNA 残留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细胞活率、收获时机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三类经典放大失败模式与预防 —— 提前避坑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工艺可比性与放大失败教训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失败1 · 照搬小罐参数 → 大罐 DO/CO₂ 失控:小罐表面积/体积比大、传质好,大罐 kLa 跟不上,直接照抄通气和转速,结果 DO 掉底、CO₂ 累积、pH 被顶偏。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失败2 · 忽视混合不均 → 局部 pH 偏移:大罐混合时间从几秒拉长到几十秒,加碱/补料点周围出现局部高 pH/高浓度『热区』,细胞被反复刺激,生长和糖基化受损。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失败3 · 种子质量波动传导到生产批:种子链某一级活率低、结团或污染,带着『亚健康』细胞进大罐,生产批表现飘忽——上游的锅,常常是种子埋的。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共同根因:把放大当成『等比例放大』,只放大了体积,没放大对微环境的控制能力。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代价很现实:一个失败的生产批=几十万到上百万的物料与产能损失,更别说排查停线、批次报废、交付延期。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预防三件套:①用 scale-down 模型在小罐预演大罐的『短板工况』;②放大前做风险评估(FMEA);③关键参数定可接受范围(NOR/PAR),不是定一个点,而是定一条安全带。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351434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26080"/>
            <a:ext cx="3514344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127248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失败① 照搬参数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9808" y="3547872"/>
            <a:ext cx="31120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大罐 DO / CO₂ 失控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小罐 kLa 高,大罐照抄通气与转速,结果 DO 掉底、CO₂ 累积、pH 被顶偏。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教训:大罐 kLa 必须重算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37304" y="2926080"/>
            <a:ext cx="351434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37304" y="2926080"/>
            <a:ext cx="3514344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538472" y="3127248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失败② 忽视混合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38472" y="3547872"/>
            <a:ext cx="31120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pH 偏移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混合时间拉长,加碱/补料口出现局部高 pH『热区』,生长与糖基化受损。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教训:分散加料口 + 提升混合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25968" y="2926080"/>
            <a:ext cx="351434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25968" y="2926080"/>
            <a:ext cx="3514344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8327136" y="3127248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失败③ 种子波动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27136" y="3547872"/>
            <a:ext cx="31120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传导到生产批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某级活率低/结团/污染,亚健康细胞进大罐,生产批表现飘忽难查。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教训:每级放行标准不能松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1389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预防三件套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57400" y="5138928"/>
            <a:ext cx="2987040" cy="502920"/>
          </a:xfrm>
          <a:prstGeom prst="roundRect">
            <a:avLst>
              <a:gd name="adj" fmla="val 12727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5138928"/>
            <a:ext cx="280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scale-down 模型预演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62728" y="5244084"/>
            <a:ext cx="274320" cy="292608"/>
          </a:xfrm>
          <a:prstGeom prst="chevron">
            <a:avLst/>
          </a:prstGeom>
          <a:solidFill>
            <a:srgbClr val="0E7C6B"/>
          </a:solidFill>
          <a:ln/>
        </p:spPr>
      </p:sp>
      <p:sp>
        <p:nvSpPr>
          <p:cNvPr id="29" name="Shape 27"/>
          <p:cNvSpPr/>
          <p:nvPr/>
        </p:nvSpPr>
        <p:spPr>
          <a:xfrm>
            <a:off x="5355336" y="5138928"/>
            <a:ext cx="2987040" cy="502920"/>
          </a:xfrm>
          <a:prstGeom prst="roundRect">
            <a:avLst>
              <a:gd name="adj" fmla="val 12727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6776" y="5138928"/>
            <a:ext cx="280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FMEA 风险评估前置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360664" y="5244084"/>
            <a:ext cx="274320" cy="292608"/>
          </a:xfrm>
          <a:prstGeom prst="chevron">
            <a:avLst/>
          </a:prstGeom>
          <a:solidFill>
            <a:srgbClr val="0E7C6B"/>
          </a:solidFill>
          <a:ln/>
        </p:spPr>
      </p:sp>
      <p:sp>
        <p:nvSpPr>
          <p:cNvPr id="32" name="Shape 30"/>
          <p:cNvSpPr/>
          <p:nvPr/>
        </p:nvSpPr>
        <p:spPr>
          <a:xfrm>
            <a:off x="8653272" y="5138928"/>
            <a:ext cx="2987040" cy="502920"/>
          </a:xfrm>
          <a:prstGeom prst="roundRect">
            <a:avLst>
              <a:gd name="adj" fmla="val 12727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44712" y="5138928"/>
            <a:ext cx="280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关键参数定 NOR / PAR 范围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914400" cy="73152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药明生物平台实践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一次性技术 + 平台化 = 柔性产能的底座,也是你练本事、攒经验的场子。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2895" y="6035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B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一次性技术 + 平台化:柔性产能的底座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药明生物平台实践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药明生物大量采用一次性生物反应器(SUB)——用一次性塑料袋替代不锈钢罐体,这与 CMO『一个厂房接很多不同项目、要频繁换型』的业务模式天然契合。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一次性的最大价值不是『便宜』,而是『快』:换产品时不用做整罐 CIP/SIP 和清洁验证,直接换一套新袋子,大幅缩短换型停机、降低交叉污染风险。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平台化放大:把罐型、管路、工艺路径都标准化成一套『平台工艺』。新项目尽量套用平台,放大路径是走过千百遍的熟路。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标准化的好处是放大风险可控——同样的几何相似罐型、同样的搅拌/通气配置,P/V、kLa、叶尖速度这些工程量在各级之间是『有谱』的,不是每次开盲盒。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对新员工的意义:你在这套平台上学到的操作和判断,是可复用、可迁移的资产;换一个项目,底层逻辑和设备语言基本相通。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注意边界:一次性也有限制——单袋体积通常到 2000 L 量级(再大走多罐/N-1 并联或强化工艺),且有 leachable/extractable(浸出物)等耗材相容性要管控。</a:t>
            </a:r>
            <a:endParaRPr lang="en-US" sz="103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7406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01168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传统不锈钢 STR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一次性 SUB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 CMO 的意义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换型清洗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CIP/SIP + 清洁验证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换袋免清洗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停机短、上手快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换型耗时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0E7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快速换产品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交叉污染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需验证控制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0E7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物理隔离,极低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多产品更安全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体积上限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可做很大(5000L+)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2000 L / 单袋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超大走多罐/强化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柔性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0E7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柔性产能底座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321040" y="28803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平台化:把放大变成走熟路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321040" y="3273552"/>
            <a:ext cx="3319272" cy="475488"/>
          </a:xfrm>
          <a:prstGeom prst="roundRect">
            <a:avLst>
              <a:gd name="adj" fmla="val 11538"/>
            </a:avLst>
          </a:prstGeom>
          <a:solidFill>
            <a:srgbClr val="E6F5F0"/>
          </a:solidFill>
          <a:ln w="12700">
            <a:solidFill>
              <a:srgbClr val="CFE5D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多项目 A / B / 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889236" y="3767328"/>
            <a:ext cx="182880" cy="164592"/>
          </a:xfrm>
          <a:prstGeom prst="downArrow">
            <a:avLst/>
          </a:prstGeom>
          <a:solidFill>
            <a:srgbClr val="17A98C"/>
          </a:solidFill>
          <a:ln/>
        </p:spPr>
      </p:sp>
      <p:sp>
        <p:nvSpPr>
          <p:cNvPr id="17" name="Text 14"/>
          <p:cNvSpPr/>
          <p:nvPr/>
        </p:nvSpPr>
        <p:spPr>
          <a:xfrm>
            <a:off x="8321040" y="3950208"/>
            <a:ext cx="3319272" cy="475488"/>
          </a:xfrm>
          <a:prstGeom prst="roundRect">
            <a:avLst>
              <a:gd name="adj" fmla="val 11538"/>
            </a:avLst>
          </a:prstGeom>
          <a:solidFill>
            <a:srgbClr val="5FD0B6"/>
          </a:solidFill>
          <a:ln w="12700">
            <a:solidFill>
              <a:srgbClr val="CFE5D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标准平台罐型(50~2000L)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889236" y="4443984"/>
            <a:ext cx="182880" cy="164592"/>
          </a:xfrm>
          <a:prstGeom prst="downArrow">
            <a:avLst/>
          </a:prstGeom>
          <a:solidFill>
            <a:srgbClr val="17A98C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4626864"/>
            <a:ext cx="3319272" cy="475488"/>
          </a:xfrm>
          <a:prstGeom prst="roundRect">
            <a:avLst>
              <a:gd name="adj" fmla="val 11538"/>
            </a:avLst>
          </a:prstGeom>
          <a:solidFill>
            <a:srgbClr val="17A98C"/>
          </a:solidFill>
          <a:ln w="12700">
            <a:solidFill>
              <a:srgbClr val="CFE5D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快速换袋 · 免清洗验证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889236" y="5120640"/>
            <a:ext cx="182880" cy="164592"/>
          </a:xfrm>
          <a:prstGeom prst="downArrow">
            <a:avLst/>
          </a:prstGeom>
          <a:solidFill>
            <a:srgbClr val="17A98C"/>
          </a:solidFill>
          <a:ln/>
        </p:spPr>
      </p:sp>
      <p:sp>
        <p:nvSpPr>
          <p:cNvPr id="21" name="Text 18"/>
          <p:cNvSpPr/>
          <p:nvPr/>
        </p:nvSpPr>
        <p:spPr>
          <a:xfrm>
            <a:off x="8321040" y="5303520"/>
            <a:ext cx="3319272" cy="475488"/>
          </a:xfrm>
          <a:prstGeom prst="roundRect">
            <a:avLst>
              <a:gd name="adj" fmla="val 11538"/>
            </a:avLst>
          </a:prstGeom>
          <a:solidFill>
            <a:srgbClr val="0E7C6B"/>
          </a:solidFill>
          <a:ln w="12700">
            <a:solidFill>
              <a:srgbClr val="CFE5D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多产品柔性产能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强化工艺、技术转移与你的成长路径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药明生物平台实践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强化上游:以提高灌流/连续工艺(perfusion)为代表,通过持续补料+持续移除代谢废物,让细胞密度做得更高,用更小的罐子做出更多产量——这就是『体积产量』的提升。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药明对外宣传的 WuXiUP™ 类强化上游平台,概念上就是这一方向:N-1 灌流种子+强化生产,目标是用更小占地、更短周期跑出更高单位体积产量(仅作概念性介绍,不涉及内部数据)。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强化工艺再次印证核心思想:产量翻倍不是把罐子等比放大两倍,而是改变运行方式(灌流速率、细胞密度、供氧与混合策略)——放大与强化都是『让细胞看到的微环境更优』。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技术转移(tech transfer):工艺从客户/研发端搬到药明生产平台,要做的就是把 CPP 对齐到平台罐型上——用 scale-down model 验证、再逐级放大,衔接前面的放大准则与种子链。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平台让 tech transfer 更快更稳:目标罐型、控制策略、SOP 都是现成的,转移时主要做『参数适配』而非『从头设计』,失败模式可提前用平台经验规避。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新员工成长路径:从看罐/采样/记录,到独立操作单台反应器,到能读懂趋势曲线做参数判断,再到参与放大与技术转移项目——平台是你练本事、攒经验的最好场子。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2960" y="3200400"/>
            <a:ext cx="1371600" cy="1609344"/>
          </a:xfrm>
          <a:prstGeom prst="roundRect">
            <a:avLst>
              <a:gd name="adj" fmla="val 5333"/>
            </a:avLst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00016"/>
            <a:ext cx="1371600" cy="219456"/>
          </a:xfrm>
          <a:prstGeom prst="ellipse">
            <a:avLst/>
          </a:prstGeom>
          <a:solidFill>
            <a:srgbClr val="F2FAF7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651016"/>
            <a:ext cx="1280160" cy="1103864"/>
          </a:xfrm>
          <a:prstGeom prst="rect">
            <a:avLst/>
          </a:prstGeom>
          <a:solidFill>
            <a:srgbClr val="AEDFD2"/>
          </a:solidFill>
          <a:ln/>
        </p:spPr>
      </p:sp>
      <p:sp>
        <p:nvSpPr>
          <p:cNvPr id="16" name="Shape 14"/>
          <p:cNvSpPr/>
          <p:nvPr/>
        </p:nvSpPr>
        <p:spPr>
          <a:xfrm>
            <a:off x="1485900" y="3035808"/>
            <a:ext cx="45720" cy="1190915"/>
          </a:xfrm>
          <a:prstGeom prst="rect">
            <a:avLst/>
          </a:prstGeom>
          <a:solidFill>
            <a:srgbClr val="5E716C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6152" y="3876324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8" name="Shape 16"/>
          <p:cNvSpPr/>
          <p:nvPr/>
        </p:nvSpPr>
        <p:spPr>
          <a:xfrm>
            <a:off x="1216152" y="4262567"/>
            <a:ext cx="585216" cy="64008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19" name="Shape 17"/>
          <p:cNvSpPr/>
          <p:nvPr/>
        </p:nvSpPr>
        <p:spPr>
          <a:xfrm>
            <a:off x="1307592" y="4487875"/>
            <a:ext cx="402336" cy="7315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4323283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1" name="Shape 19"/>
          <p:cNvSpPr/>
          <p:nvPr/>
        </p:nvSpPr>
        <p:spPr>
          <a:xfrm>
            <a:off x="1481328" y="425013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2" name="Shape 20"/>
          <p:cNvSpPr/>
          <p:nvPr/>
        </p:nvSpPr>
        <p:spPr>
          <a:xfrm>
            <a:off x="1591056" y="4304995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4752" y="438729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4" name="Shape 22"/>
          <p:cNvSpPr/>
          <p:nvPr/>
        </p:nvSpPr>
        <p:spPr>
          <a:xfrm>
            <a:off x="1536192" y="4387291"/>
            <a:ext cx="54864" cy="54864"/>
          </a:xfrm>
          <a:prstGeom prst="ellipse">
            <a:avLst/>
          </a:prstGeom>
          <a:solidFill>
            <a:srgbClr val="5FD0B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747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持续补料 →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240280" y="4389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移除废物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48640" y="5120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灌流:高 VCD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体积产量↑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3017520" y="2926080"/>
          <a:ext cx="38404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040880" y="292608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技术转移 tech transfer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040880" y="3246120"/>
            <a:ext cx="4599432" cy="347472"/>
          </a:xfrm>
          <a:prstGeom prst="rect">
            <a:avLst/>
          </a:prstGeom>
          <a:solidFill>
            <a:srgbClr val="E6F5F0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CPP 对齐平台罐型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040880" y="3630168"/>
            <a:ext cx="4599432" cy="347472"/>
          </a:xfrm>
          <a:prstGeom prst="rect">
            <a:avLst/>
          </a:prstGeom>
          <a:solidFill>
            <a:srgbClr val="F2FAF7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scale-down 验证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040880" y="4014216"/>
            <a:ext cx="4599432" cy="347472"/>
          </a:xfrm>
          <a:prstGeom prst="rect">
            <a:avLst/>
          </a:prstGeom>
          <a:solidFill>
            <a:srgbClr val="E6F5F0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N-x 逐级放大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040880" y="4398264"/>
            <a:ext cx="4599432" cy="347472"/>
          </a:xfrm>
          <a:prstGeom prst="rect">
            <a:avLst/>
          </a:prstGeom>
          <a:solidFill>
            <a:srgbClr val="F2FAF7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可比性确认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040880" y="4937760"/>
            <a:ext cx="4599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成长路径:基础操作 → 单元独立运行 → 趋势判读 → 放大/技术转移项目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914400" cy="73152"/>
          </a:xfrm>
          <a:prstGeom prst="rect">
            <a:avLst/>
          </a:prstGeom>
          <a:solidFill>
            <a:srgbClr val="5FD0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 Q&amp;A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一句话收束:放大不是把罐子变大,而是让细胞『感觉不到』变大。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2895" y="6035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B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一图收束:放大不是把罐子变大,而是让细胞『感觉不到』变大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 Q&amp;A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核心记忆锚点:工艺放大的本质是——在更大体积下,让细胞看到的微环境(pH、溶氧、剪切、传质、营养)尽可能和小罐一致;放大的是体积,不能跟着等比变的是细胞的『体感』。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工程主线一句话串起来:体积一变大,几何不再相似,于是 P/V、kLa、tip speed 这几个量『按不同规律变化』,所以参数不能照搬,必须用准则去取舍。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三大放大准则不是三选一的标准答案,而是三种『保什么、丢什么』的取舍:恒定 P/V(保混合/传质)、恒定 kLa(保供氧、最贴近 CHO 实际)、恒定 tip speed(保剪切上限)。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种子链提醒我们:放大是逐级递进的(N-x → N),每一级都要让细胞『健康地、对数生长地』交接,不是一步从摇瓶冲到生产罐。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风险与可比性意识:大罐里最容易出事的是混合不均、CO₂ 积累、底部缺氧、加碱局部高 pH;而判断放大成功的最终标准是产品可比(Comparability)。</a:t>
            </a:r>
            <a:endParaRPr lang="en-US" sz="1030" dirty="0"/>
          </a:p>
          <a:p>
            <a:pPr algn="l"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现代视角:CPP 的监测与控制要放进 QbD / PAT 框架里理解——我们控参数是为了控质量,不是为了好看的曲线。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1969618" cy="914400"/>
          </a:xfrm>
          <a:prstGeom prst="roundRect">
            <a:avLst>
              <a:gd name="adj" fmla="val 7000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1786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放大本质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微环境一致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36546" y="3236976"/>
            <a:ext cx="274320" cy="292608"/>
          </a:xfrm>
          <a:prstGeom prst="chevron">
            <a:avLst/>
          </a:prstGeom>
          <a:solidFill>
            <a:srgbClr val="0E7C6B"/>
          </a:solidFill>
          <a:ln/>
        </p:spPr>
      </p:sp>
      <p:sp>
        <p:nvSpPr>
          <p:cNvPr id="16" name="Shape 14"/>
          <p:cNvSpPr/>
          <p:nvPr/>
        </p:nvSpPr>
        <p:spPr>
          <a:xfrm>
            <a:off x="2829154" y="2926080"/>
            <a:ext cx="1969618" cy="914400"/>
          </a:xfrm>
          <a:prstGeom prst="roundRect">
            <a:avLst>
              <a:gd name="adj" fmla="val 7000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0594" y="2926080"/>
            <a:ext cx="1786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几何不相似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面积/混合不成比例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17059" y="3236976"/>
            <a:ext cx="274320" cy="292608"/>
          </a:xfrm>
          <a:prstGeom prst="chevron">
            <a:avLst/>
          </a:prstGeom>
          <a:solidFill>
            <a:srgbClr val="0E7C6B"/>
          </a:solidFill>
          <a:ln/>
        </p:spPr>
      </p:sp>
      <p:sp>
        <p:nvSpPr>
          <p:cNvPr id="19" name="Shape 17"/>
          <p:cNvSpPr/>
          <p:nvPr/>
        </p:nvSpPr>
        <p:spPr>
          <a:xfrm>
            <a:off x="5109667" y="2926080"/>
            <a:ext cx="1969618" cy="914400"/>
          </a:xfrm>
          <a:prstGeom prst="roundRect">
            <a:avLst>
              <a:gd name="adj" fmla="val 7000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01107" y="2926080"/>
            <a:ext cx="1786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工程量分化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P/V·kLa·tip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97573" y="3236976"/>
            <a:ext cx="274320" cy="292608"/>
          </a:xfrm>
          <a:prstGeom prst="chevron">
            <a:avLst/>
          </a:prstGeom>
          <a:solidFill>
            <a:srgbClr val="0E7C6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90181" y="2926080"/>
            <a:ext cx="1969618" cy="914400"/>
          </a:xfrm>
          <a:prstGeom prst="roundRect">
            <a:avLst>
              <a:gd name="adj" fmla="val 7000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1621" y="2926080"/>
            <a:ext cx="1786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种子链交接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N-x → 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378086" y="3236976"/>
            <a:ext cx="274320" cy="292608"/>
          </a:xfrm>
          <a:prstGeom prst="chevron">
            <a:avLst/>
          </a:prstGeom>
          <a:solidFill>
            <a:srgbClr val="0E7C6B"/>
          </a:solidFill>
          <a:ln/>
        </p:spPr>
      </p:sp>
      <p:sp>
        <p:nvSpPr>
          <p:cNvPr id="25" name="Shape 23"/>
          <p:cNvSpPr/>
          <p:nvPr/>
        </p:nvSpPr>
        <p:spPr>
          <a:xfrm>
            <a:off x="9670694" y="2926080"/>
            <a:ext cx="1969618" cy="914400"/>
          </a:xfrm>
          <a:prstGeom prst="roundRect">
            <a:avLst>
              <a:gd name="adj" fmla="val 7000"/>
            </a:avLst>
          </a:prstGeom>
          <a:solidFill>
            <a:srgbClr val="E6F5F0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62134" y="2926080"/>
            <a:ext cx="1786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可比性判定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E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质量对得上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三准则:保什么 / 丢什么</a:t>
            </a:r>
            <a:endParaRPr lang="en-US" sz="11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20240" y="4434840"/>
          <a:ext cx="83484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56104"/>
                <a:gridCol w="2356104"/>
                <a:gridCol w="2356104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恒定 P/V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恒定 kLa(CHO 常用)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恒定 tip speed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保什么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 / 传质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C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剪切上限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73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丢什么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剪切偏高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搅拌/泡沫风险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混合可能不足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7C6B"/>
          </a:solidFill>
          <a:ln/>
          <a:effectLst>
            <a:outerShdw sx="100000" sy="100000" kx="0" ky="0" algn="bl" rotWithShape="0" blurRad="88900" dist="38100" dir="8100000">
              <a:srgbClr val="0A453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CD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3352" y="530352"/>
            <a:ext cx="9969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下一步学什么 + Q&amp;A:把概念变成现场的手感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2575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 Q&amp;A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81328"/>
            <a:ext cx="54406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成长路径建议(先内化原理→再上手设备→最后参与放大):①吃透 CPP 的『控什么/为什么/典型范围』;②跟班熟悉 STR 与 SUB 的部件与 SOP;③看懂一份放大批记录与可比性报告,知道每个数从哪来。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推荐延伸学习(公开知识):传质与混合工程基础(kLa 测定、混合时间)、scale-down 模型原理、QbD/PAT 法规思路(ICH Q8/Q9/Q10)、一次性技术与强化/灌流工艺入门。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内部文档指引(按权限在公司系统检索,不要外传):各产品工艺描述与控制策略、设备 SOP、放大/技术转移方案与报告、偏差与 CAPA 案例库、平台培训课件——遇到不确定的参数,先查受控文件。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三个『一定要问』的好习惯:参数超范围先问『细胞会怎么看这件事』、调整前先问『这是哪个准则在主导』、出偏差先问『是混合/传质/局部环境哪一类问题』。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互动(预留约 5~10 分钟):欢迎围绕『参数为什么不能照搬』『大罐哪里最容易出事』『可比性怎么判定』提问,也欢迎带你实习/转岗中的具体疑惑。</a:t>
            </a:r>
            <a:endParaRPr lang="en-US" sz="1150" dirty="0"/>
          </a:p>
          <a:p>
            <a:pPr algn="l"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结束语:放大是工程与生物学的交汇,新员工不必一开始就全懂,但要建立『为细胞的微环境负责』的意识——这就是今天最想留给大家的东西。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389888"/>
            <a:ext cx="5742432" cy="3429000"/>
          </a:xfrm>
          <a:prstGeom prst="roundRect">
            <a:avLst>
              <a:gd name="adj" fmla="val 1600"/>
            </a:avLst>
          </a:prstGeom>
          <a:solidFill>
            <a:srgbClr val="F2FAF7"/>
          </a:solidFill>
          <a:ln w="12700">
            <a:solidFill>
              <a:srgbClr val="CFE5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4768" y="1481328"/>
            <a:ext cx="171907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481328"/>
            <a:ext cx="1719072" cy="82296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27648" y="1682496"/>
            <a:ext cx="384048" cy="384048"/>
          </a:xfrm>
          <a:prstGeom prst="ellipse">
            <a:avLst/>
          </a:prstGeom>
          <a:solidFill>
            <a:srgbClr val="E6F5F0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03136" y="1645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懂原理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2194560"/>
            <a:ext cx="131673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CPP + 工程量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控什么/为什么/范围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1481328"/>
            <a:ext cx="171907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1481328"/>
            <a:ext cx="1719072" cy="82296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1682496"/>
            <a:ext cx="384048" cy="384048"/>
          </a:xfrm>
          <a:prstGeom prst="ellipse">
            <a:avLst/>
          </a:prstGeom>
          <a:solidFill>
            <a:srgbClr val="E6F5F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05088" y="1645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熟设备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47888" y="2194560"/>
            <a:ext cx="131673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 / SUB 部件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与操作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948672" y="1481328"/>
            <a:ext cx="171907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948672" y="1481328"/>
            <a:ext cx="1719072" cy="82296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31552" y="1682496"/>
            <a:ext cx="384048" cy="384048"/>
          </a:xfrm>
          <a:prstGeom prst="ellipse">
            <a:avLst/>
          </a:prstGeom>
          <a:solidFill>
            <a:srgbClr val="E6F5F0"/>
          </a:solidFill>
          <a:ln/>
        </p:spPr>
      </p:sp>
      <p:sp>
        <p:nvSpPr>
          <p:cNvPr id="28" name="Text 26"/>
          <p:cNvSpPr/>
          <p:nvPr/>
        </p:nvSpPr>
        <p:spPr>
          <a:xfrm>
            <a:off x="10131552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607040" y="1645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参与放大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149840" y="2194560"/>
            <a:ext cx="131673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读懂批记录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可比性报告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44768" y="3218688"/>
            <a:ext cx="5522976" cy="411480"/>
          </a:xfrm>
          <a:prstGeom prst="roundRect">
            <a:avLst>
              <a:gd name="adj" fmla="val 17778"/>
            </a:avLst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Q&amp;A(预留 5~10 分钟)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44768" y="3721608"/>
            <a:ext cx="5522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参数为什么不能照搬?   · 大罐哪里最容易出事?   · 可比性怎么判定?   (先查受控文件再提问)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4476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34" name="Shape 32"/>
          <p:cNvSpPr/>
          <p:nvPr/>
        </p:nvSpPr>
        <p:spPr>
          <a:xfrm>
            <a:off x="614476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5" name="Text 33"/>
          <p:cNvSpPr/>
          <p:nvPr/>
        </p:nvSpPr>
        <p:spPr>
          <a:xfrm>
            <a:off x="627278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学习路径:懂原理 → 熟设备 → 参与放大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8979408" y="4882896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37" name="Shape 35"/>
          <p:cNvSpPr/>
          <p:nvPr/>
        </p:nvSpPr>
        <p:spPr>
          <a:xfrm>
            <a:off x="8979408" y="4882896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8" name="Text 36"/>
          <p:cNvSpPr/>
          <p:nvPr/>
        </p:nvSpPr>
        <p:spPr>
          <a:xfrm>
            <a:off x="9107424" y="4910328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法规关键词:QbD、PAT、ICH Q8(R2)/Q9/Q10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614476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40" name="Shape 38"/>
          <p:cNvSpPr/>
          <p:nvPr/>
        </p:nvSpPr>
        <p:spPr>
          <a:xfrm>
            <a:off x="614476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41" name="Text 39"/>
          <p:cNvSpPr/>
          <p:nvPr/>
        </p:nvSpPr>
        <p:spPr>
          <a:xfrm>
            <a:off x="627278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建议:5~10 分钟,按参数/风险/可比性分组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8979408" y="5586984"/>
            <a:ext cx="2688336" cy="594360"/>
          </a:xfrm>
          <a:prstGeom prst="rect">
            <a:avLst/>
          </a:prstGeom>
          <a:solidFill>
            <a:srgbClr val="E6F5F0"/>
          </a:solidFill>
          <a:ln/>
        </p:spPr>
      </p:sp>
      <p:sp>
        <p:nvSpPr>
          <p:cNvPr id="43" name="Shape 41"/>
          <p:cNvSpPr/>
          <p:nvPr/>
        </p:nvSpPr>
        <p:spPr>
          <a:xfrm>
            <a:off x="8979408" y="5586984"/>
            <a:ext cx="50292" cy="594360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44" name="Text 42"/>
          <p:cNvSpPr/>
          <p:nvPr/>
        </p:nvSpPr>
        <p:spPr>
          <a:xfrm>
            <a:off x="9107424" y="5614416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查证优先级:受控文件 &gt; 平台课件 &gt; 公开文献 &gt; 个人记忆</a:t>
            </a:r>
            <a:endParaRPr lang="en-US" sz="86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核心要点回顾:今天最该带走的六件事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64328" cy="1207008"/>
          </a:xfrm>
          <a:prstGeom prst="roundRect">
            <a:avLst>
              <a:gd name="adj" fmla="val 5303"/>
            </a:avLst>
          </a:prstGeom>
          <a:solidFill>
            <a:srgbClr val="F2FAF7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54480"/>
            <a:ext cx="82296" cy="1207008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19072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700784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放大的本质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212140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在更大体积下复制『细胞看到的微环境』(pH、溶氧、剪切、传质、营养)——放大的是体积,不能等比变的是细胞的体感。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364328" cy="1207008"/>
          </a:xfrm>
          <a:prstGeom prst="roundRect">
            <a:avLst>
              <a:gd name="adj" fmla="val 5303"/>
            </a:avLst>
          </a:prstGeom>
          <a:solidFill>
            <a:srgbClr val="F2FAF7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26080"/>
            <a:ext cx="82296" cy="1207008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90672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072384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难题的根源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349300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体积按 D³ 长、表面积只按 D² 长,导致大罐单位体积的传质/传热/混合天然变差,参数几乎从不能照搬。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5364328" cy="1207008"/>
          </a:xfrm>
          <a:prstGeom prst="roundRect">
            <a:avLst>
              <a:gd name="adj" fmla="val 5303"/>
            </a:avLst>
          </a:prstGeom>
          <a:solidFill>
            <a:srgbClr val="F2FAF7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297680"/>
            <a:ext cx="82296" cy="1207008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62272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4443984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工程主线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86460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P/V、kLa、tip speed、混合时间这几个量随放大『按不同规律变化』,所以要用准则去取舍。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78728" y="1554480"/>
            <a:ext cx="5364328" cy="1207008"/>
          </a:xfrm>
          <a:prstGeom prst="roundRect">
            <a:avLst>
              <a:gd name="adj" fmla="val 5303"/>
            </a:avLst>
          </a:prstGeom>
          <a:solidFill>
            <a:srgbClr val="F2FAF7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78728" y="1554480"/>
            <a:ext cx="82296" cy="1207008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5" name="Text 23"/>
          <p:cNvSpPr/>
          <p:nvPr/>
        </p:nvSpPr>
        <p:spPr>
          <a:xfrm>
            <a:off x="6461608" y="1719072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64528" y="1700784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三大准则各有取舍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4760" y="212140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恒定 P/V(稳妥折中)、恒定 kLa(优先供氧、贴近 CHO)、恒定 tip speed(优先压剪切)——按限制性因素选,不是三选一。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78728" y="2926080"/>
            <a:ext cx="5364328" cy="1207008"/>
          </a:xfrm>
          <a:prstGeom prst="roundRect">
            <a:avLst>
              <a:gd name="adj" fmla="val 5303"/>
            </a:avLst>
          </a:prstGeom>
          <a:solidFill>
            <a:srgbClr val="F2FAF7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78728" y="2926080"/>
            <a:ext cx="82296" cy="1207008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0" name="Text 28"/>
          <p:cNvSpPr/>
          <p:nvPr/>
        </p:nvSpPr>
        <p:spPr>
          <a:xfrm>
            <a:off x="6461608" y="3090672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64528" y="3072384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种子链逐级递进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34760" y="349300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N-x → N,每一级都要让细胞健康、对数生长地交接,种子质量直接传导到生产批。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78728" y="4297680"/>
            <a:ext cx="5364328" cy="1207008"/>
          </a:xfrm>
          <a:prstGeom prst="roundRect">
            <a:avLst>
              <a:gd name="adj" fmla="val 5303"/>
            </a:avLst>
          </a:prstGeom>
          <a:solidFill>
            <a:srgbClr val="F2FAF7"/>
          </a:solidFill>
          <a:ln w="12700">
            <a:solidFill>
              <a:srgbClr val="CFE5DE"/>
            </a:solidFill>
            <a:prstDash val="solid"/>
          </a:ln>
          <a:effectLst>
            <a:outerShdw sx="100000" sy="100000" kx="0" ky="0" algn="bl" rotWithShape="0" blurRad="114300" dist="25400" dir="5400000">
              <a:srgbClr val="1A3D36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78728" y="4297680"/>
            <a:ext cx="82296" cy="1207008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5" name="Text 33"/>
          <p:cNvSpPr/>
          <p:nvPr/>
        </p:nvSpPr>
        <p:spPr>
          <a:xfrm>
            <a:off x="6461608" y="4462272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64528" y="4443984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最终判据是可比性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34760" y="486460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且要在 QbD/PAT 框架下理解:控 CPP 是为了控 CQA、控质量;GMP 下『没记录=没发生』。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术语速查表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FD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GLOSSARY · 16 个关键术语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AF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65392"/>
            <a:ext cx="12191695" cy="20117"/>
          </a:xfrm>
          <a:prstGeom prst="rect">
            <a:avLst/>
          </a:prstGeom>
          <a:solidFill>
            <a:srgbClr val="CFE5D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156655" y="6565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上游反应器工艺放大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820095" y="6565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49961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工艺放大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Process Scale-up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在显著增大反应体积的同时保持工艺性能与产品质量一致,即复制细胞看到的微环境而非按比例放大罐子。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00939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8254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 / 下游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Upstream / Downstream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上游负责养细胞、让细胞表达产物;下游负责把产物从培养液中纯化出来(离心、过滤、层析)。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9232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6547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关键工艺参数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CPP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一旦偏离就会显著影响细胞生长、产量或质量的必须控、必须监的参数(温度、pH、DO、CO₂ 等)。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7525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4840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关键质量属性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CQA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决定产品安全有效的质量特征(糖基化、电荷异构体、聚体、HCP 残留),是 CPP 控制的最终目标。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3133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溶氧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DO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培养液中溶解的氧,细胞的『呼吸供给』,典型设定 30~50% 空气饱和度。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34111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1426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氧传质系数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kLa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把氧从气泡送进液体的能力(1/h),OTR = kLa·(C*−C_L);大罐 kLa 通常更难做高。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92404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99719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单位体积功率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P/V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搅拌往每升液体灌入的能量,决定混合、剪切与气泡破碎;CHO 培养常控 10~50 W/m³。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50697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58012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桨叶端速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tip speed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桨叶最外缘线速度 = π·N·Di,表征局部最大剪切;CHO 通常控在 1~2 m/s 以内护细胞。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08990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0168" y="149961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混合时间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mixing time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把整罐浓度/pH/温度拌匀所需时间,罐越大越长,是大罐产生梯度的直接原因。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78728" y="200939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0168" y="208254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种子扩增链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Seed Train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从一支冻存管逐级把细胞数量与状态养够、传代接种到生产罐的链条,用 N-x 倒数命名。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78728" y="259232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0168" y="266547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活细胞密度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VCD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单位体积内的活细胞数量,是判断每级是否达标、何时传代/接种的核心指标。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78728" y="317525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0168" y="324840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不锈钢搅拌罐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STR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行业主力机型,规模大、可反复使用,但每批需 CIP/SIP 清洗灭菌,换型慢。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78728" y="375818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0168" y="383133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一次性生物反应器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SUB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用预灭菌一次性袋体替代不锈钢罐,免清洗免灭菌、换型快,是 CMO 多产品厂房主流。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78728" y="434111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0168" y="441426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质量源于设计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QbD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质量从工艺设计阶段就设计进去而非靠最后检验挑出来;经 DoE 摸出设计空间。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78728" y="492404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0168" y="499719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过程分析技术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PAT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通过实时监测与控制确保过程始终处于受控状态的技术框架,与 QbD 配套落地。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78728" y="550697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0168" y="5580126"/>
            <a:ext cx="5181448" cy="5097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E7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工艺可比性</a:t>
            </a:r>
            <a:pPr algn="l" indent="0" marL="0">
              <a:lnSpc>
                <a:spcPct val="96000"/>
              </a:lnSpc>
              <a:buNone/>
            </a:pPr>
            <a:r>
              <a:rPr lang="en-US" sz="850" i="1" dirty="0">
                <a:solidFill>
                  <a:srgbClr val="17A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Comparability  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273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放大前后工艺性能与产品质量属性一致、变化在可接受范围内,是放大成功的最终判据。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78728" y="6089904"/>
            <a:ext cx="5364328" cy="0"/>
          </a:xfrm>
          <a:prstGeom prst="line">
            <a:avLst/>
          </a:prstGeom>
          <a:noFill/>
          <a:ln w="6350">
            <a:solidFill>
              <a:srgbClr val="CFE5DE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630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放大不是把罐子变大,而是让细胞『感觉不到』变大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无锡药明生物 · 上游工艺培训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上游反应器工艺放大</dc:title>
  <dc:subject>PptxGenJS Presentation</dc:subject>
  <dc:creator>无锡药明生物 · 上游工艺培训</dc:creator>
  <cp:lastModifiedBy>无锡药明生物 · 上游工艺培训</cp:lastModifiedBy>
  <cp:revision>1</cp:revision>
  <dcterms:created xsi:type="dcterms:W3CDTF">2026-06-14T20:06:27Z</dcterms:created>
  <dcterms:modified xsi:type="dcterms:W3CDTF">2026-06-14T20:06:27Z</dcterms:modified>
</cp:coreProperties>
</file>